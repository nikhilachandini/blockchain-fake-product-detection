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5" r:id="rId2"/>
    <p:sldId id="278" r:id="rId3"/>
    <p:sldId id="279" r:id="rId4"/>
    <p:sldId id="280" r:id="rId5"/>
    <p:sldId id="281" r:id="rId6"/>
    <p:sldId id="327" r:id="rId7"/>
    <p:sldId id="328" r:id="rId8"/>
    <p:sldId id="329" r:id="rId9"/>
    <p:sldId id="333" r:id="rId10"/>
    <p:sldId id="334" r:id="rId11"/>
    <p:sldId id="323" r:id="rId12"/>
    <p:sldId id="325" r:id="rId13"/>
    <p:sldId id="285" r:id="rId14"/>
    <p:sldId id="332" r:id="rId15"/>
    <p:sldId id="330" r:id="rId16"/>
    <p:sldId id="33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0" autoAdjust="0"/>
    <p:restoredTop sz="94660"/>
  </p:normalViewPr>
  <p:slideViewPr>
    <p:cSldViewPr snapToGrid="0">
      <p:cViewPr varScale="1">
        <p:scale>
          <a:sx n="91" d="100"/>
          <a:sy n="91" d="100"/>
        </p:scale>
        <p:origin x="8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4B7047-B14F-475A-99BF-615AC913AE7E}" type="datetimeFigureOut">
              <a:rPr lang="en-IN" smtClean="0"/>
              <a:t>12/04/26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2CFD98-5361-45ED-B10C-11C7E71F7AE6}" type="slidenum">
              <a:rPr lang="en-IN" smtClean="0"/>
              <a:t>‹#›</a:t>
            </a:fld>
            <a:endParaRPr lang="en-IN"/>
          </a:p>
        </p:txBody>
      </p:sp>
    </p:spTree>
    <p:extLst>
      <p:ext uri="{BB962C8B-B14F-4D97-AF65-F5344CB8AC3E}">
        <p14:creationId xmlns:p14="http://schemas.microsoft.com/office/powerpoint/2010/main" val="2951266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2</a:t>
            </a:fld>
            <a:endParaRPr lang="en-IN"/>
          </a:p>
        </p:txBody>
      </p:sp>
    </p:spTree>
    <p:extLst>
      <p:ext uri="{BB962C8B-B14F-4D97-AF65-F5344CB8AC3E}">
        <p14:creationId xmlns:p14="http://schemas.microsoft.com/office/powerpoint/2010/main" val="1287380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3</a:t>
            </a:fld>
            <a:endParaRPr lang="en-IN"/>
          </a:p>
        </p:txBody>
      </p:sp>
    </p:spTree>
    <p:extLst>
      <p:ext uri="{BB962C8B-B14F-4D97-AF65-F5344CB8AC3E}">
        <p14:creationId xmlns:p14="http://schemas.microsoft.com/office/powerpoint/2010/main" val="1407817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4</a:t>
            </a:fld>
            <a:endParaRPr lang="en-IN"/>
          </a:p>
        </p:txBody>
      </p:sp>
    </p:spTree>
    <p:extLst>
      <p:ext uri="{BB962C8B-B14F-4D97-AF65-F5344CB8AC3E}">
        <p14:creationId xmlns:p14="http://schemas.microsoft.com/office/powerpoint/2010/main" val="2828145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5</a:t>
            </a:fld>
            <a:endParaRPr lang="en-IN"/>
          </a:p>
        </p:txBody>
      </p:sp>
    </p:spTree>
    <p:extLst>
      <p:ext uri="{BB962C8B-B14F-4D97-AF65-F5344CB8AC3E}">
        <p14:creationId xmlns:p14="http://schemas.microsoft.com/office/powerpoint/2010/main" val="1390616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6</a:t>
            </a:fld>
            <a:endParaRPr lang="en-IN"/>
          </a:p>
        </p:txBody>
      </p:sp>
    </p:spTree>
    <p:extLst>
      <p:ext uri="{BB962C8B-B14F-4D97-AF65-F5344CB8AC3E}">
        <p14:creationId xmlns:p14="http://schemas.microsoft.com/office/powerpoint/2010/main" val="1942599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7</a:t>
            </a:fld>
            <a:endParaRPr lang="en-IN"/>
          </a:p>
        </p:txBody>
      </p:sp>
    </p:spTree>
    <p:extLst>
      <p:ext uri="{BB962C8B-B14F-4D97-AF65-F5344CB8AC3E}">
        <p14:creationId xmlns:p14="http://schemas.microsoft.com/office/powerpoint/2010/main" val="3196909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8</a:t>
            </a:fld>
            <a:endParaRPr lang="en-IN"/>
          </a:p>
        </p:txBody>
      </p:sp>
    </p:spTree>
    <p:extLst>
      <p:ext uri="{BB962C8B-B14F-4D97-AF65-F5344CB8AC3E}">
        <p14:creationId xmlns:p14="http://schemas.microsoft.com/office/powerpoint/2010/main" val="3369538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9</a:t>
            </a:fld>
            <a:endParaRPr lang="en-IN"/>
          </a:p>
        </p:txBody>
      </p:sp>
    </p:spTree>
    <p:extLst>
      <p:ext uri="{BB962C8B-B14F-4D97-AF65-F5344CB8AC3E}">
        <p14:creationId xmlns:p14="http://schemas.microsoft.com/office/powerpoint/2010/main" val="2994817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10</a:t>
            </a:fld>
            <a:endParaRPr lang="en-IN"/>
          </a:p>
        </p:txBody>
      </p:sp>
    </p:spTree>
    <p:extLst>
      <p:ext uri="{BB962C8B-B14F-4D97-AF65-F5344CB8AC3E}">
        <p14:creationId xmlns:p14="http://schemas.microsoft.com/office/powerpoint/2010/main" val="3753128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13</a:t>
            </a:fld>
            <a:endParaRPr lang="en-IN"/>
          </a:p>
        </p:txBody>
      </p:sp>
    </p:spTree>
    <p:extLst>
      <p:ext uri="{BB962C8B-B14F-4D97-AF65-F5344CB8AC3E}">
        <p14:creationId xmlns:p14="http://schemas.microsoft.com/office/powerpoint/2010/main" val="1796425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14</a:t>
            </a:fld>
            <a:endParaRPr lang="en-IN"/>
          </a:p>
        </p:txBody>
      </p:sp>
    </p:spTree>
    <p:extLst>
      <p:ext uri="{BB962C8B-B14F-4D97-AF65-F5344CB8AC3E}">
        <p14:creationId xmlns:p14="http://schemas.microsoft.com/office/powerpoint/2010/main" val="1216458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15</a:t>
            </a:fld>
            <a:endParaRPr lang="en-IN"/>
          </a:p>
        </p:txBody>
      </p:sp>
    </p:spTree>
    <p:extLst>
      <p:ext uri="{BB962C8B-B14F-4D97-AF65-F5344CB8AC3E}">
        <p14:creationId xmlns:p14="http://schemas.microsoft.com/office/powerpoint/2010/main" val="449486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2A1B729-66EF-4863-96B2-B3F84E94A85D}" type="slidenum">
              <a:rPr lang="en-IN" smtClean="0"/>
              <a:t>16</a:t>
            </a:fld>
            <a:endParaRPr lang="en-IN"/>
          </a:p>
        </p:txBody>
      </p:sp>
    </p:spTree>
    <p:extLst>
      <p:ext uri="{BB962C8B-B14F-4D97-AF65-F5344CB8AC3E}">
        <p14:creationId xmlns:p14="http://schemas.microsoft.com/office/powerpoint/2010/main" val="1894445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1BFB-7CB2-40C7-9503-03B33D74D8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CA5A1CD-D4FE-4141-AC07-5853F351E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4843A2-F687-4496-B5BA-799A0B671FDA}"/>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5" name="Footer Placeholder 4">
            <a:extLst>
              <a:ext uri="{FF2B5EF4-FFF2-40B4-BE49-F238E27FC236}">
                <a16:creationId xmlns:a16="http://schemas.microsoft.com/office/drawing/2014/main" id="{EE913427-F1CB-4007-A03D-00A24B59F9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19F0A2-0742-49B6-9C91-0F23F4268CA4}"/>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3784483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F604-A472-42EE-94CA-249E577B28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C91904-4BED-4F6A-AA43-A0AB381F7F4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3EFFF3-EC5C-46E8-B1DE-ACDB5CB209F7}"/>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5" name="Footer Placeholder 4">
            <a:extLst>
              <a:ext uri="{FF2B5EF4-FFF2-40B4-BE49-F238E27FC236}">
                <a16:creationId xmlns:a16="http://schemas.microsoft.com/office/drawing/2014/main" id="{8B30449F-2D5B-4B6C-B8FE-5F38D1694A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BB232D-7090-42F7-AF1F-B30BDAE3A95F}"/>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2848231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DCBDA-B5B4-4224-ACB3-E3BB9526CF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89738E8-486B-4821-9BD9-2A5BADE16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356DAF4-66B3-4D34-8AC0-9429615A060C}"/>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5" name="Footer Placeholder 4">
            <a:extLst>
              <a:ext uri="{FF2B5EF4-FFF2-40B4-BE49-F238E27FC236}">
                <a16:creationId xmlns:a16="http://schemas.microsoft.com/office/drawing/2014/main" id="{B0E9689E-63B3-4D35-B40D-13917ADD4C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AC336B-29EC-4F9F-86B6-0D25570B33EF}"/>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629707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C6220-7355-4535-9C63-0E21E79595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B4149F-AC50-437D-8255-070A8F90571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1EDCBF-CCC9-4FF8-998C-08CB144D53B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F48559-9CBE-44F2-ACA2-B2416E1BE356}"/>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6" name="Footer Placeholder 5">
            <a:extLst>
              <a:ext uri="{FF2B5EF4-FFF2-40B4-BE49-F238E27FC236}">
                <a16:creationId xmlns:a16="http://schemas.microsoft.com/office/drawing/2014/main" id="{FCF50C0A-637B-4D07-8740-177CC9B992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2436D4-C158-43F4-833A-06BB1A56DAA1}"/>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4082036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011D2-D5C5-49BC-958B-27C0300012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99437D-49EB-43A1-8167-4CB121F5C7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341D423-D58B-4ECA-9A1C-1617C2ACA8C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5E60F5-CF6F-4B6B-A9F7-EE553F4773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F17C6B4-C831-4057-8272-8CC35B94096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4E89E4-09AD-4C7B-81CB-39A2C7E0EB7B}"/>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8" name="Footer Placeholder 7">
            <a:extLst>
              <a:ext uri="{FF2B5EF4-FFF2-40B4-BE49-F238E27FC236}">
                <a16:creationId xmlns:a16="http://schemas.microsoft.com/office/drawing/2014/main" id="{C63B81A1-745B-4B10-A684-9FB01927D2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AE6BD9-4A7C-44C8-923E-ECB9652E3517}"/>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3117707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7ED03-363E-40A8-9D22-67AE3EE7E9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1A72FE-0443-43B4-B95C-BE68BFED0BBE}"/>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4" name="Footer Placeholder 3">
            <a:extLst>
              <a:ext uri="{FF2B5EF4-FFF2-40B4-BE49-F238E27FC236}">
                <a16:creationId xmlns:a16="http://schemas.microsoft.com/office/drawing/2014/main" id="{83B27066-446C-4D8A-83A1-43C909939D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141424-2B29-4150-8CC1-0AD032604CD7}"/>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260037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BA1C30-DBF2-41BB-AFEC-703C8C6015C4}"/>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3" name="Footer Placeholder 2">
            <a:extLst>
              <a:ext uri="{FF2B5EF4-FFF2-40B4-BE49-F238E27FC236}">
                <a16:creationId xmlns:a16="http://schemas.microsoft.com/office/drawing/2014/main" id="{6F129372-1CD0-4A4A-9669-B8B476B3E5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23A8D8-42AA-48D1-9E1E-D5859F9CDE63}"/>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1390328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B700E-2933-4B8E-87A1-09BA2FDADA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F7222D-1A98-463C-8A67-247A2E50DD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DBE7CB-58A2-462A-BF72-3EC0A832E5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E9198D-89DA-45D9-9FBC-199A28926311}"/>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6" name="Footer Placeholder 5">
            <a:extLst>
              <a:ext uri="{FF2B5EF4-FFF2-40B4-BE49-F238E27FC236}">
                <a16:creationId xmlns:a16="http://schemas.microsoft.com/office/drawing/2014/main" id="{50A56E55-D0DE-4F56-8FEC-A6D401ED86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8BD2A9-C5CE-46DE-8058-F1CD0E4C0E3A}"/>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2885570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215B-D0F4-46DE-9667-151691DAD8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D0417C-B7F9-4360-8412-CEA41F5B7C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C3D50E-87B5-4A97-A8D1-95C0CB5A0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845894D-388D-4316-9759-275B97DFEDC3}"/>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6" name="Footer Placeholder 5">
            <a:extLst>
              <a:ext uri="{FF2B5EF4-FFF2-40B4-BE49-F238E27FC236}">
                <a16:creationId xmlns:a16="http://schemas.microsoft.com/office/drawing/2014/main" id="{EEFF6FEF-EE19-4CAD-8E8B-2E0C3BEE60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71057D-3F59-4CD9-A1F8-9D729B942C3A}"/>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1576928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BD13-2795-4687-9B5A-CDF53B6596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65105-6EF5-4845-AB1C-3A51DF9AB76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65A44A-7A4B-4C38-B3CA-843D9390E897}"/>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5" name="Footer Placeholder 4">
            <a:extLst>
              <a:ext uri="{FF2B5EF4-FFF2-40B4-BE49-F238E27FC236}">
                <a16:creationId xmlns:a16="http://schemas.microsoft.com/office/drawing/2014/main" id="{3B1C2DB9-CB7D-4FD9-BE18-2A517AC834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8E9B7D-9FF9-40A2-926F-44B2DA750C53}"/>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988493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1B14C-8437-47BA-A105-DD5CF4629E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5949FB-94CA-4B1B-A816-6E9EC3ECAD7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473900-C8B8-4EFE-931A-1DFE5F82C8F3}"/>
              </a:ext>
            </a:extLst>
          </p:cNvPr>
          <p:cNvSpPr>
            <a:spLocks noGrp="1"/>
          </p:cNvSpPr>
          <p:nvPr>
            <p:ph type="dt" sz="half" idx="10"/>
          </p:nvPr>
        </p:nvSpPr>
        <p:spPr/>
        <p:txBody>
          <a:bodyPr/>
          <a:lstStyle/>
          <a:p>
            <a:fld id="{8B6BDA21-B188-41C4-8673-8C689A828A0F}" type="datetimeFigureOut">
              <a:rPr lang="en-IN" smtClean="0"/>
              <a:t>12/04/26</a:t>
            </a:fld>
            <a:endParaRPr lang="en-IN"/>
          </a:p>
        </p:txBody>
      </p:sp>
      <p:sp>
        <p:nvSpPr>
          <p:cNvPr id="5" name="Footer Placeholder 4">
            <a:extLst>
              <a:ext uri="{FF2B5EF4-FFF2-40B4-BE49-F238E27FC236}">
                <a16:creationId xmlns:a16="http://schemas.microsoft.com/office/drawing/2014/main" id="{E91E99B1-1682-40CD-BC78-2EB38D43B2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C67288-F43B-4E50-8DB3-0AFEA9813D75}"/>
              </a:ext>
            </a:extLst>
          </p:cNvPr>
          <p:cNvSpPr>
            <a:spLocks noGrp="1"/>
          </p:cNvSpPr>
          <p:nvPr>
            <p:ph type="sldNum" sz="quarter" idx="12"/>
          </p:nvPr>
        </p:nvSpPr>
        <p:spPr/>
        <p:txBody>
          <a:bodyPr/>
          <a:lstStyle/>
          <a:p>
            <a:fld id="{8D5940A9-4DA3-47B4-8092-3C6552156270}" type="slidenum">
              <a:rPr lang="en-IN" smtClean="0"/>
              <a:t>‹#›</a:t>
            </a:fld>
            <a:endParaRPr lang="en-IN"/>
          </a:p>
        </p:txBody>
      </p:sp>
    </p:spTree>
    <p:extLst>
      <p:ext uri="{BB962C8B-B14F-4D97-AF65-F5344CB8AC3E}">
        <p14:creationId xmlns:p14="http://schemas.microsoft.com/office/powerpoint/2010/main" val="264854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B7B594-8C8F-4A6E-AD40-7F3FD700A1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15D7D4-E5F4-46EF-8535-5A17358295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6DBB95-A034-4AA8-9A53-24AFBE4716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6BDA21-B188-41C4-8673-8C689A828A0F}" type="datetimeFigureOut">
              <a:rPr lang="en-IN" smtClean="0"/>
              <a:t>12/04/26</a:t>
            </a:fld>
            <a:endParaRPr lang="en-IN"/>
          </a:p>
        </p:txBody>
      </p:sp>
      <p:sp>
        <p:nvSpPr>
          <p:cNvPr id="5" name="Footer Placeholder 4">
            <a:extLst>
              <a:ext uri="{FF2B5EF4-FFF2-40B4-BE49-F238E27FC236}">
                <a16:creationId xmlns:a16="http://schemas.microsoft.com/office/drawing/2014/main" id="{203B09D8-6F5B-4C93-B28D-3577C1A28F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3B296BC-7521-47AA-BA2D-0BE75E6AE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5940A9-4DA3-47B4-8092-3C6552156270}" type="slidenum">
              <a:rPr lang="en-IN" smtClean="0"/>
              <a:t>‹#›</a:t>
            </a:fld>
            <a:endParaRPr lang="en-IN"/>
          </a:p>
        </p:txBody>
      </p:sp>
    </p:spTree>
    <p:extLst>
      <p:ext uri="{BB962C8B-B14F-4D97-AF65-F5344CB8AC3E}">
        <p14:creationId xmlns:p14="http://schemas.microsoft.com/office/powerpoint/2010/main" val="1693187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09928"/>
            <a:ext cx="12192000" cy="584775"/>
          </a:xfrm>
          <a:prstGeom prst="rect">
            <a:avLst/>
          </a:prstGeom>
          <a:noFill/>
        </p:spPr>
        <p:txBody>
          <a:bodyPr wrap="square" rtlCol="0">
            <a:spAutoFit/>
          </a:bodyPr>
          <a:lstStyle/>
          <a:p>
            <a:pPr algn="ctr"/>
            <a:r>
              <a:rPr lang="en-IN" sz="3200" b="1" dirty="0">
                <a:solidFill>
                  <a:schemeClr val="accent1">
                    <a:lumMod val="75000"/>
                  </a:schemeClr>
                </a:solidFill>
                <a:latin typeface="Times New Roman" panose="02020603050405020304" pitchFamily="18" charset="0"/>
                <a:cs typeface="Times New Roman" panose="02020603050405020304" pitchFamily="18" charset="0"/>
              </a:rPr>
              <a:t>ARCHITECTURE</a:t>
            </a: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8" name="Picture 7">
            <a:extLst>
              <a:ext uri="{FF2B5EF4-FFF2-40B4-BE49-F238E27FC236}">
                <a16:creationId xmlns:a16="http://schemas.microsoft.com/office/drawing/2014/main" id="{026FF91D-E8B8-47AF-BCEA-145466F9A8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0518" y="977153"/>
            <a:ext cx="7957857" cy="54665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G</a:t>
            </a:r>
            <a:r>
              <a:rPr lang="en-IN" sz="3200" b="1" dirty="0">
                <a:solidFill>
                  <a:schemeClr val="accent1">
                    <a:lumMod val="75000"/>
                  </a:schemeClr>
                </a:solidFill>
                <a:latin typeface="Times New Roman" panose="02020603050405020304" pitchFamily="18" charset="0"/>
                <a:cs typeface="Times New Roman" panose="02020603050405020304" pitchFamily="18" charset="0"/>
              </a:rPr>
              <a:t>UI</a:t>
            </a: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2" name="Picture 1">
            <a:extLst>
              <a:ext uri="{FF2B5EF4-FFF2-40B4-BE49-F238E27FC236}">
                <a16:creationId xmlns:a16="http://schemas.microsoft.com/office/drawing/2014/main" id="{E0BBCAD4-DB7F-4F1F-B0CB-C79269265502}"/>
              </a:ext>
            </a:extLst>
          </p:cNvPr>
          <p:cNvPicPr>
            <a:picLocks noChangeAspect="1"/>
          </p:cNvPicPr>
          <p:nvPr/>
        </p:nvPicPr>
        <p:blipFill>
          <a:blip r:embed="rId3"/>
          <a:stretch>
            <a:fillRect/>
          </a:stretch>
        </p:blipFill>
        <p:spPr>
          <a:xfrm>
            <a:off x="1452282" y="903964"/>
            <a:ext cx="9260542" cy="4564507"/>
          </a:xfrm>
          <a:prstGeom prst="rect">
            <a:avLst/>
          </a:prstGeom>
        </p:spPr>
      </p:pic>
      <p:sp>
        <p:nvSpPr>
          <p:cNvPr id="3" name="TextBox 2">
            <a:extLst>
              <a:ext uri="{FF2B5EF4-FFF2-40B4-BE49-F238E27FC236}">
                <a16:creationId xmlns:a16="http://schemas.microsoft.com/office/drawing/2014/main" id="{7E6F6573-9CA5-4E54-A439-64D42C0A13CA}"/>
              </a:ext>
            </a:extLst>
          </p:cNvPr>
          <p:cNvSpPr txBox="1"/>
          <p:nvPr/>
        </p:nvSpPr>
        <p:spPr>
          <a:xfrm>
            <a:off x="2967392" y="5793903"/>
            <a:ext cx="593463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Home page of the User Interface</a:t>
            </a:r>
          </a:p>
        </p:txBody>
      </p:sp>
    </p:spTree>
    <p:extLst>
      <p:ext uri="{BB962C8B-B14F-4D97-AF65-F5344CB8AC3E}">
        <p14:creationId xmlns:p14="http://schemas.microsoft.com/office/powerpoint/2010/main" val="3559468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G</a:t>
            </a:r>
            <a:r>
              <a:rPr lang="en-IN" sz="3200" b="1" dirty="0">
                <a:solidFill>
                  <a:schemeClr val="accent1">
                    <a:lumMod val="75000"/>
                  </a:schemeClr>
                </a:solidFill>
                <a:latin typeface="Times New Roman" panose="02020603050405020304" pitchFamily="18" charset="0"/>
                <a:cs typeface="Times New Roman" panose="02020603050405020304" pitchFamily="18" charset="0"/>
              </a:rPr>
              <a:t>UI</a:t>
            </a: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2" name="Picture 1">
            <a:extLst>
              <a:ext uri="{FF2B5EF4-FFF2-40B4-BE49-F238E27FC236}">
                <a16:creationId xmlns:a16="http://schemas.microsoft.com/office/drawing/2014/main" id="{A53D2ABC-D962-436E-93DF-D1EB8130C16E}"/>
              </a:ext>
            </a:extLst>
          </p:cNvPr>
          <p:cNvPicPr>
            <a:picLocks noChangeAspect="1"/>
          </p:cNvPicPr>
          <p:nvPr/>
        </p:nvPicPr>
        <p:blipFill>
          <a:blip r:embed="rId3"/>
          <a:stretch>
            <a:fillRect/>
          </a:stretch>
        </p:blipFill>
        <p:spPr>
          <a:xfrm>
            <a:off x="1295498" y="986119"/>
            <a:ext cx="9847632" cy="4545105"/>
          </a:xfrm>
          <a:prstGeom prst="rect">
            <a:avLst/>
          </a:prstGeom>
        </p:spPr>
      </p:pic>
      <p:sp>
        <p:nvSpPr>
          <p:cNvPr id="6" name="TextBox 5">
            <a:extLst>
              <a:ext uri="{FF2B5EF4-FFF2-40B4-BE49-F238E27FC236}">
                <a16:creationId xmlns:a16="http://schemas.microsoft.com/office/drawing/2014/main" id="{48B43AF6-B440-403B-870C-12A2B5046F92}"/>
              </a:ext>
            </a:extLst>
          </p:cNvPr>
          <p:cNvSpPr txBox="1"/>
          <p:nvPr/>
        </p:nvSpPr>
        <p:spPr>
          <a:xfrm>
            <a:off x="2967392" y="5793903"/>
            <a:ext cx="593463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Manufacturer Page of the  User Interface</a:t>
            </a:r>
          </a:p>
        </p:txBody>
      </p:sp>
    </p:spTree>
    <p:extLst>
      <p:ext uri="{BB962C8B-B14F-4D97-AF65-F5344CB8AC3E}">
        <p14:creationId xmlns:p14="http://schemas.microsoft.com/office/powerpoint/2010/main" val="3836950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G</a:t>
            </a:r>
            <a:r>
              <a:rPr lang="en-IN" sz="3200" b="1" dirty="0">
                <a:solidFill>
                  <a:schemeClr val="accent1">
                    <a:lumMod val="75000"/>
                  </a:schemeClr>
                </a:solidFill>
                <a:latin typeface="Times New Roman" panose="02020603050405020304" pitchFamily="18" charset="0"/>
                <a:cs typeface="Times New Roman" panose="02020603050405020304" pitchFamily="18" charset="0"/>
              </a:rPr>
              <a:t>UI</a:t>
            </a: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3" name="Picture 2">
            <a:extLst>
              <a:ext uri="{FF2B5EF4-FFF2-40B4-BE49-F238E27FC236}">
                <a16:creationId xmlns:a16="http://schemas.microsoft.com/office/drawing/2014/main" id="{8A57FEAD-DD28-40F5-A7F5-F76A9534B899}"/>
              </a:ext>
            </a:extLst>
          </p:cNvPr>
          <p:cNvPicPr>
            <a:picLocks noChangeAspect="1"/>
          </p:cNvPicPr>
          <p:nvPr/>
        </p:nvPicPr>
        <p:blipFill>
          <a:blip r:embed="rId3"/>
          <a:stretch>
            <a:fillRect/>
          </a:stretch>
        </p:blipFill>
        <p:spPr>
          <a:xfrm>
            <a:off x="1295498" y="1093694"/>
            <a:ext cx="10008996" cy="4563035"/>
          </a:xfrm>
          <a:prstGeom prst="rect">
            <a:avLst/>
          </a:prstGeom>
        </p:spPr>
      </p:pic>
      <p:sp>
        <p:nvSpPr>
          <p:cNvPr id="6" name="TextBox 5">
            <a:extLst>
              <a:ext uri="{FF2B5EF4-FFF2-40B4-BE49-F238E27FC236}">
                <a16:creationId xmlns:a16="http://schemas.microsoft.com/office/drawing/2014/main" id="{A3BC2788-9BEA-431A-978D-E6AACF0CB5B4}"/>
              </a:ext>
            </a:extLst>
          </p:cNvPr>
          <p:cNvSpPr txBox="1"/>
          <p:nvPr/>
        </p:nvSpPr>
        <p:spPr>
          <a:xfrm>
            <a:off x="2967392" y="5793903"/>
            <a:ext cx="593463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Seller page of the User Interface</a:t>
            </a:r>
          </a:p>
        </p:txBody>
      </p:sp>
    </p:spTree>
    <p:extLst>
      <p:ext uri="{BB962C8B-B14F-4D97-AF65-F5344CB8AC3E}">
        <p14:creationId xmlns:p14="http://schemas.microsoft.com/office/powerpoint/2010/main" val="2262003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G</a:t>
            </a:r>
            <a:r>
              <a:rPr lang="en-IN" sz="3200" b="1" dirty="0">
                <a:solidFill>
                  <a:schemeClr val="accent1">
                    <a:lumMod val="75000"/>
                  </a:schemeClr>
                </a:solidFill>
                <a:latin typeface="Times New Roman" panose="02020603050405020304" pitchFamily="18" charset="0"/>
                <a:cs typeface="Times New Roman" panose="02020603050405020304" pitchFamily="18" charset="0"/>
              </a:rPr>
              <a:t>UI</a:t>
            </a: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3" name="Picture 2">
            <a:extLst>
              <a:ext uri="{FF2B5EF4-FFF2-40B4-BE49-F238E27FC236}">
                <a16:creationId xmlns:a16="http://schemas.microsoft.com/office/drawing/2014/main" id="{1B60DC20-E54F-4CAF-9F22-FB770E1B1BC9}"/>
              </a:ext>
            </a:extLst>
          </p:cNvPr>
          <p:cNvPicPr>
            <a:picLocks noChangeAspect="1"/>
          </p:cNvPicPr>
          <p:nvPr/>
        </p:nvPicPr>
        <p:blipFill>
          <a:blip r:embed="rId3"/>
          <a:stretch>
            <a:fillRect/>
          </a:stretch>
        </p:blipFill>
        <p:spPr>
          <a:xfrm>
            <a:off x="1295497" y="903964"/>
            <a:ext cx="10295868" cy="4474859"/>
          </a:xfrm>
          <a:prstGeom prst="rect">
            <a:avLst/>
          </a:prstGeom>
        </p:spPr>
      </p:pic>
      <p:sp>
        <p:nvSpPr>
          <p:cNvPr id="6" name="TextBox 5">
            <a:extLst>
              <a:ext uri="{FF2B5EF4-FFF2-40B4-BE49-F238E27FC236}">
                <a16:creationId xmlns:a16="http://schemas.microsoft.com/office/drawing/2014/main" id="{A4938F6C-94E6-46B1-A8B4-548ADCD7600F}"/>
              </a:ext>
            </a:extLst>
          </p:cNvPr>
          <p:cNvSpPr txBox="1"/>
          <p:nvPr/>
        </p:nvSpPr>
        <p:spPr>
          <a:xfrm>
            <a:off x="2967392" y="5793903"/>
            <a:ext cx="593463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Consumer page of the User Interface</a:t>
            </a:r>
          </a:p>
        </p:txBody>
      </p:sp>
    </p:spTree>
    <p:extLst>
      <p:ext uri="{BB962C8B-B14F-4D97-AF65-F5344CB8AC3E}">
        <p14:creationId xmlns:p14="http://schemas.microsoft.com/office/powerpoint/2010/main" val="2410509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325"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RESULT ANALYSIS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graphicFrame>
        <p:nvGraphicFramePr>
          <p:cNvPr id="3" name="Table 2">
            <a:extLst>
              <a:ext uri="{FF2B5EF4-FFF2-40B4-BE49-F238E27FC236}">
                <a16:creationId xmlns:a16="http://schemas.microsoft.com/office/drawing/2014/main" id="{6DE9400C-E7B1-400D-9CD5-E5D378D39739}"/>
              </a:ext>
            </a:extLst>
          </p:cNvPr>
          <p:cNvGraphicFramePr>
            <a:graphicFrameLocks noGrp="1"/>
          </p:cNvGraphicFramePr>
          <p:nvPr>
            <p:extLst>
              <p:ext uri="{D42A27DB-BD31-4B8C-83A1-F6EECF244321}">
                <p14:modId xmlns:p14="http://schemas.microsoft.com/office/powerpoint/2010/main" val="3198910355"/>
              </p:ext>
            </p:extLst>
          </p:nvPr>
        </p:nvGraphicFramePr>
        <p:xfrm>
          <a:off x="1967183" y="953769"/>
          <a:ext cx="7952983" cy="5486094"/>
        </p:xfrm>
        <a:graphic>
          <a:graphicData uri="http://schemas.openxmlformats.org/drawingml/2006/table">
            <a:tbl>
              <a:tblPr firstRow="1" firstCol="1" bandRow="1">
                <a:tableStyleId>{BC89EF96-8CEA-46FF-86C4-4CE0E7609802}</a:tableStyleId>
              </a:tblPr>
              <a:tblGrid>
                <a:gridCol w="816975">
                  <a:extLst>
                    <a:ext uri="{9D8B030D-6E8A-4147-A177-3AD203B41FA5}">
                      <a16:colId xmlns:a16="http://schemas.microsoft.com/office/drawing/2014/main" val="3993835858"/>
                    </a:ext>
                  </a:extLst>
                </a:gridCol>
                <a:gridCol w="2341246">
                  <a:extLst>
                    <a:ext uri="{9D8B030D-6E8A-4147-A177-3AD203B41FA5}">
                      <a16:colId xmlns:a16="http://schemas.microsoft.com/office/drawing/2014/main" val="3853621147"/>
                    </a:ext>
                  </a:extLst>
                </a:gridCol>
                <a:gridCol w="1979394">
                  <a:extLst>
                    <a:ext uri="{9D8B030D-6E8A-4147-A177-3AD203B41FA5}">
                      <a16:colId xmlns:a16="http://schemas.microsoft.com/office/drawing/2014/main" val="719872839"/>
                    </a:ext>
                  </a:extLst>
                </a:gridCol>
                <a:gridCol w="1921532">
                  <a:extLst>
                    <a:ext uri="{9D8B030D-6E8A-4147-A177-3AD203B41FA5}">
                      <a16:colId xmlns:a16="http://schemas.microsoft.com/office/drawing/2014/main" val="1071278105"/>
                    </a:ext>
                  </a:extLst>
                </a:gridCol>
                <a:gridCol w="893836">
                  <a:extLst>
                    <a:ext uri="{9D8B030D-6E8A-4147-A177-3AD203B41FA5}">
                      <a16:colId xmlns:a16="http://schemas.microsoft.com/office/drawing/2014/main" val="2183335315"/>
                    </a:ext>
                  </a:extLst>
                </a:gridCol>
              </a:tblGrid>
              <a:tr h="872238">
                <a:tc>
                  <a:txBody>
                    <a:bodyPr/>
                    <a:lstStyle/>
                    <a:p>
                      <a:pPr algn="just">
                        <a:lnSpc>
                          <a:spcPct val="107000"/>
                        </a:lnSpc>
                        <a:spcAft>
                          <a:spcPts val="0"/>
                        </a:spcAft>
                      </a:pPr>
                      <a:r>
                        <a:rPr lang="en-IN" sz="1600">
                          <a:effectLst/>
                        </a:rPr>
                        <a:t>Test CaseID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Test Scenario</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dirty="0">
                          <a:effectLst/>
                        </a:rPr>
                        <a:t>Expected Results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Actual Results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Status Pass/ Fail</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2891208332"/>
                  </a:ext>
                </a:extLst>
              </a:tr>
              <a:tr h="1423182">
                <a:tc>
                  <a:txBody>
                    <a:bodyPr/>
                    <a:lstStyle/>
                    <a:p>
                      <a:pPr algn="just">
                        <a:lnSpc>
                          <a:spcPct val="107000"/>
                        </a:lnSpc>
                        <a:spcAft>
                          <a:spcPts val="0"/>
                        </a:spcAft>
                      </a:pPr>
                      <a:r>
                        <a:rPr lang="en-IN" sz="1600" dirty="0">
                          <a:effectLst/>
                        </a:rPr>
                        <a:t>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dirty="0">
                          <a:effectLst/>
                        </a:rPr>
                        <a:t>Manufacturer's Actions: Upload details and QR Code Generation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dirty="0">
                          <a:effectLst/>
                        </a:rPr>
                        <a:t>The QR code is successfully generated, and the system takes the input of the manufacturer.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The QR code is successfully generated, and the system takes the input of the manufacturer.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PASS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3415429416"/>
                  </a:ext>
                </a:extLst>
              </a:tr>
              <a:tr h="651271">
                <a:tc>
                  <a:txBody>
                    <a:bodyPr/>
                    <a:lstStyle/>
                    <a:p>
                      <a:pPr algn="just">
                        <a:lnSpc>
                          <a:spcPct val="107000"/>
                        </a:lnSpc>
                        <a:spcAft>
                          <a:spcPts val="0"/>
                        </a:spcAft>
                      </a:pPr>
                      <a:r>
                        <a:rPr lang="en-IN" sz="1600" dirty="0">
                          <a:effectLst/>
                        </a:rPr>
                        <a:t>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Manufacturer's Actions: Adding Product Details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Product details are accurately added.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Product details are accurately added.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PASS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1195925458"/>
                  </a:ext>
                </a:extLst>
              </a:tr>
              <a:tr h="1184228">
                <a:tc>
                  <a:txBody>
                    <a:bodyPr/>
                    <a:lstStyle/>
                    <a:p>
                      <a:pPr algn="just">
                        <a:lnSpc>
                          <a:spcPct val="107000"/>
                        </a:lnSpc>
                        <a:spcAft>
                          <a:spcPts val="0"/>
                        </a:spcAft>
                      </a:pPr>
                      <a:r>
                        <a:rPr lang="en-IN" sz="1600">
                          <a:effectLst/>
                        </a:rPr>
                        <a:t>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Supplier's Actions: Upload details and QR Code Scanning</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2300"/>
                        </a:spcAft>
                      </a:pPr>
                      <a:r>
                        <a:rPr lang="en-IN" sz="1600">
                          <a:effectLst/>
                        </a:rPr>
                        <a:t>The QR code is successfully scanned, and the product information is accessible.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The QR code is successfully scanned, and the product information is accessible.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PASS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824925512"/>
                  </a:ext>
                </a:extLst>
              </a:tr>
              <a:tr h="1115689">
                <a:tc>
                  <a:txBody>
                    <a:bodyPr/>
                    <a:lstStyle/>
                    <a:p>
                      <a:pPr algn="just">
                        <a:lnSpc>
                          <a:spcPct val="107000"/>
                        </a:lnSpc>
                        <a:spcAft>
                          <a:spcPts val="0"/>
                        </a:spcAft>
                      </a:pPr>
                      <a:r>
                        <a:rPr lang="en-IN" sz="1600">
                          <a:effectLst/>
                        </a:rPr>
                        <a:t>4</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Adding Supplier Details: Supplier adds their details, such as phone number, destination.</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The supplier's details are correctly added.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The supplier's details are correctly added.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dirty="0">
                          <a:effectLst/>
                        </a:rPr>
                        <a:t>PASS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2838169221"/>
                  </a:ext>
                </a:extLst>
              </a:tr>
            </a:tbl>
          </a:graphicData>
        </a:graphic>
      </p:graphicFrame>
    </p:spTree>
    <p:extLst>
      <p:ext uri="{BB962C8B-B14F-4D97-AF65-F5344CB8AC3E}">
        <p14:creationId xmlns:p14="http://schemas.microsoft.com/office/powerpoint/2010/main" val="414287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325"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RESULT ANALYSIS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graphicFrame>
        <p:nvGraphicFramePr>
          <p:cNvPr id="6" name="Table 5">
            <a:extLst>
              <a:ext uri="{FF2B5EF4-FFF2-40B4-BE49-F238E27FC236}">
                <a16:creationId xmlns:a16="http://schemas.microsoft.com/office/drawing/2014/main" id="{C3DACBED-B89C-471F-8370-1D1721A65325}"/>
              </a:ext>
            </a:extLst>
          </p:cNvPr>
          <p:cNvGraphicFramePr>
            <a:graphicFrameLocks noGrp="1"/>
          </p:cNvGraphicFramePr>
          <p:nvPr>
            <p:extLst>
              <p:ext uri="{D42A27DB-BD31-4B8C-83A1-F6EECF244321}">
                <p14:modId xmlns:p14="http://schemas.microsoft.com/office/powerpoint/2010/main" val="2690822279"/>
              </p:ext>
            </p:extLst>
          </p:nvPr>
        </p:nvGraphicFramePr>
        <p:xfrm>
          <a:off x="1548777" y="1147114"/>
          <a:ext cx="8789796" cy="5099404"/>
        </p:xfrm>
        <a:graphic>
          <a:graphicData uri="http://schemas.openxmlformats.org/drawingml/2006/table">
            <a:tbl>
              <a:tblPr firstRow="1" firstCol="1" bandRow="1">
                <a:tableStyleId>{BC89EF96-8CEA-46FF-86C4-4CE0E7609802}</a:tableStyleId>
              </a:tblPr>
              <a:tblGrid>
                <a:gridCol w="902938">
                  <a:extLst>
                    <a:ext uri="{9D8B030D-6E8A-4147-A177-3AD203B41FA5}">
                      <a16:colId xmlns:a16="http://schemas.microsoft.com/office/drawing/2014/main" val="1606858753"/>
                    </a:ext>
                  </a:extLst>
                </a:gridCol>
                <a:gridCol w="2587593">
                  <a:extLst>
                    <a:ext uri="{9D8B030D-6E8A-4147-A177-3AD203B41FA5}">
                      <a16:colId xmlns:a16="http://schemas.microsoft.com/office/drawing/2014/main" val="502990354"/>
                    </a:ext>
                  </a:extLst>
                </a:gridCol>
                <a:gridCol w="2187665">
                  <a:extLst>
                    <a:ext uri="{9D8B030D-6E8A-4147-A177-3AD203B41FA5}">
                      <a16:colId xmlns:a16="http://schemas.microsoft.com/office/drawing/2014/main" val="3840160740"/>
                    </a:ext>
                  </a:extLst>
                </a:gridCol>
                <a:gridCol w="2123715">
                  <a:extLst>
                    <a:ext uri="{9D8B030D-6E8A-4147-A177-3AD203B41FA5}">
                      <a16:colId xmlns:a16="http://schemas.microsoft.com/office/drawing/2014/main" val="4095576446"/>
                    </a:ext>
                  </a:extLst>
                </a:gridCol>
                <a:gridCol w="987885">
                  <a:extLst>
                    <a:ext uri="{9D8B030D-6E8A-4147-A177-3AD203B41FA5}">
                      <a16:colId xmlns:a16="http://schemas.microsoft.com/office/drawing/2014/main" val="2802026929"/>
                    </a:ext>
                  </a:extLst>
                </a:gridCol>
              </a:tblGrid>
              <a:tr h="1529999">
                <a:tc>
                  <a:txBody>
                    <a:bodyPr/>
                    <a:lstStyle/>
                    <a:p>
                      <a:pPr algn="just">
                        <a:lnSpc>
                          <a:spcPct val="107000"/>
                        </a:lnSpc>
                        <a:spcAft>
                          <a:spcPts val="0"/>
                        </a:spcAft>
                      </a:pPr>
                      <a:r>
                        <a:rPr lang="en-IN" sz="1600" dirty="0">
                          <a:effectLst/>
                        </a:rPr>
                        <a:t>5</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2300"/>
                        </a:spcAft>
                      </a:pPr>
                      <a:r>
                        <a:rPr lang="en-IN" sz="1600" dirty="0">
                          <a:effectLst/>
                        </a:rPr>
                        <a:t>Manufacturer’s Action: Sell product to the Seller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a:effectLst/>
                        </a:rPr>
                        <a:t>The QR code is scanned, and the corresponding Product Serial Number (SN) is retrieved, then sold to the supplier.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a:effectLst/>
                        </a:rPr>
                        <a:t>The QR code is scanned, and the corresponding Product Serial Number (SN) is retrieved, then sold to the supplier.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a:effectLst/>
                        </a:rPr>
                        <a:t>PASS</a:t>
                      </a:r>
                    </a:p>
                    <a:p>
                      <a:pPr algn="just">
                        <a:lnSpc>
                          <a:spcPct val="107000"/>
                        </a:lnSpc>
                        <a:spcAft>
                          <a:spcPts val="0"/>
                        </a:spcAft>
                      </a:pPr>
                      <a:r>
                        <a:rPr lang="en-IN" sz="1600">
                          <a:effectLst/>
                        </a:rPr>
                        <a:t> </a:t>
                      </a:r>
                    </a:p>
                    <a:p>
                      <a:pPr algn="just">
                        <a:lnSpc>
                          <a:spcPct val="107000"/>
                        </a:lnSpc>
                        <a:spcAft>
                          <a:spcPts val="0"/>
                        </a:spcAft>
                      </a:pPr>
                      <a:r>
                        <a:rPr lang="en-IN" sz="1600">
                          <a:effectLst/>
                        </a:rPr>
                        <a:t> </a:t>
                      </a:r>
                    </a:p>
                    <a:p>
                      <a:pPr algn="just">
                        <a:lnSpc>
                          <a:spcPct val="107000"/>
                        </a:lnSpc>
                        <a:spcAft>
                          <a:spcPts val="0"/>
                        </a:spcAft>
                      </a:pPr>
                      <a:r>
                        <a:rPr lang="en-IN" sz="1600">
                          <a:effectLst/>
                        </a:rPr>
                        <a:t> </a:t>
                      </a:r>
                    </a:p>
                    <a:p>
                      <a:pPr algn="just">
                        <a:lnSpc>
                          <a:spcPct val="107000"/>
                        </a:lnSpc>
                        <a:spcAft>
                          <a:spcPts val="0"/>
                        </a:spcAft>
                      </a:pPr>
                      <a:r>
                        <a:rPr lang="en-IN" sz="1600">
                          <a:effectLst/>
                        </a:rPr>
                        <a:t>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extLst>
                  <a:ext uri="{0D108BD9-81ED-4DB2-BD59-A6C34878D82A}">
                    <a16:rowId xmlns:a16="http://schemas.microsoft.com/office/drawing/2014/main" val="955765233"/>
                  </a:ext>
                </a:extLst>
              </a:tr>
              <a:tr h="1355584">
                <a:tc>
                  <a:txBody>
                    <a:bodyPr/>
                    <a:lstStyle/>
                    <a:p>
                      <a:pPr algn="just">
                        <a:lnSpc>
                          <a:spcPct val="107000"/>
                        </a:lnSpc>
                        <a:spcAft>
                          <a:spcPts val="0"/>
                        </a:spcAft>
                      </a:pPr>
                      <a:r>
                        <a:rPr lang="en-IN" sz="1600" dirty="0">
                          <a:effectLst/>
                        </a:rPr>
                        <a:t>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2300"/>
                        </a:spcAft>
                      </a:pPr>
                      <a:r>
                        <a:rPr lang="en-IN" sz="1600" dirty="0">
                          <a:effectLst/>
                        </a:rPr>
                        <a:t>Manufacturer’s Action: Retrieving the sellers details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a:effectLst/>
                        </a:rPr>
                        <a:t>The manufacturer can access seller details through the blockchain network using the manufacturer code.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a:effectLst/>
                        </a:rPr>
                        <a:t>The manufacturer can access seller details through the blockchain network using the manufacturer code.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dirty="0">
                          <a:effectLst/>
                        </a:rPr>
                        <a:t>PASS</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extLst>
                  <a:ext uri="{0D108BD9-81ED-4DB2-BD59-A6C34878D82A}">
                    <a16:rowId xmlns:a16="http://schemas.microsoft.com/office/drawing/2014/main" val="2969586475"/>
                  </a:ext>
                </a:extLst>
              </a:tr>
              <a:tr h="2189911">
                <a:tc>
                  <a:txBody>
                    <a:bodyPr/>
                    <a:lstStyle/>
                    <a:p>
                      <a:pPr algn="just">
                        <a:lnSpc>
                          <a:spcPct val="107000"/>
                        </a:lnSpc>
                        <a:spcAft>
                          <a:spcPts val="0"/>
                        </a:spcAft>
                      </a:pPr>
                      <a:r>
                        <a:rPr lang="en-IN" sz="1600">
                          <a:effectLst/>
                        </a:rPr>
                        <a:t>7</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2300"/>
                        </a:spcAft>
                      </a:pPr>
                      <a:r>
                        <a:rPr lang="en-IN" sz="1600">
                          <a:effectLst/>
                        </a:rPr>
                        <a:t>Supplier’s Action: QR Code Scanning and Selling Products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a:effectLst/>
                        </a:rPr>
                        <a:t>The QR code is scanned, and the corresponding Product Serial Number (SN) is retrieved, then supplier can sell the product to the consumer by having the consumer code.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a:effectLst/>
                        </a:rPr>
                        <a:t>The QR code is scanned, and the corresponding Product Serial Number (SN) is retrieved, then supplier can sell the product to the consumer by having the consumer code.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tc>
                  <a:txBody>
                    <a:bodyPr/>
                    <a:lstStyle/>
                    <a:p>
                      <a:pPr algn="just">
                        <a:lnSpc>
                          <a:spcPct val="107000"/>
                        </a:lnSpc>
                        <a:spcAft>
                          <a:spcPts val="0"/>
                        </a:spcAft>
                      </a:pPr>
                      <a:r>
                        <a:rPr lang="en-IN" sz="1600" dirty="0">
                          <a:effectLst/>
                        </a:rPr>
                        <a:t>PASS</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56263" marR="56263" marT="0" marB="0"/>
                </a:tc>
                <a:extLst>
                  <a:ext uri="{0D108BD9-81ED-4DB2-BD59-A6C34878D82A}">
                    <a16:rowId xmlns:a16="http://schemas.microsoft.com/office/drawing/2014/main" val="1567920788"/>
                  </a:ext>
                </a:extLst>
              </a:tr>
            </a:tbl>
          </a:graphicData>
        </a:graphic>
      </p:graphicFrame>
    </p:spTree>
    <p:extLst>
      <p:ext uri="{BB962C8B-B14F-4D97-AF65-F5344CB8AC3E}">
        <p14:creationId xmlns:p14="http://schemas.microsoft.com/office/powerpoint/2010/main" val="295732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325"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RESULT ANALYSIS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graphicFrame>
        <p:nvGraphicFramePr>
          <p:cNvPr id="2" name="Table 1">
            <a:extLst>
              <a:ext uri="{FF2B5EF4-FFF2-40B4-BE49-F238E27FC236}">
                <a16:creationId xmlns:a16="http://schemas.microsoft.com/office/drawing/2014/main" id="{8104238F-3A92-4642-B0FB-0F0F649C6B22}"/>
              </a:ext>
            </a:extLst>
          </p:cNvPr>
          <p:cNvGraphicFramePr>
            <a:graphicFrameLocks noGrp="1"/>
          </p:cNvGraphicFramePr>
          <p:nvPr>
            <p:extLst>
              <p:ext uri="{D42A27DB-BD31-4B8C-83A1-F6EECF244321}">
                <p14:modId xmlns:p14="http://schemas.microsoft.com/office/powerpoint/2010/main" val="3526984867"/>
              </p:ext>
            </p:extLst>
          </p:nvPr>
        </p:nvGraphicFramePr>
        <p:xfrm>
          <a:off x="1972235" y="903964"/>
          <a:ext cx="8247529" cy="5635905"/>
        </p:xfrm>
        <a:graphic>
          <a:graphicData uri="http://schemas.openxmlformats.org/drawingml/2006/table">
            <a:tbl>
              <a:tblPr firstRow="1" firstCol="1" bandRow="1">
                <a:tableStyleId>{BC89EF96-8CEA-46FF-86C4-4CE0E7609802}</a:tableStyleId>
              </a:tblPr>
              <a:tblGrid>
                <a:gridCol w="847231">
                  <a:extLst>
                    <a:ext uri="{9D8B030D-6E8A-4147-A177-3AD203B41FA5}">
                      <a16:colId xmlns:a16="http://schemas.microsoft.com/office/drawing/2014/main" val="1153758859"/>
                    </a:ext>
                  </a:extLst>
                </a:gridCol>
                <a:gridCol w="2427957">
                  <a:extLst>
                    <a:ext uri="{9D8B030D-6E8A-4147-A177-3AD203B41FA5}">
                      <a16:colId xmlns:a16="http://schemas.microsoft.com/office/drawing/2014/main" val="4206374857"/>
                    </a:ext>
                  </a:extLst>
                </a:gridCol>
                <a:gridCol w="2052703">
                  <a:extLst>
                    <a:ext uri="{9D8B030D-6E8A-4147-A177-3AD203B41FA5}">
                      <a16:colId xmlns:a16="http://schemas.microsoft.com/office/drawing/2014/main" val="2188161385"/>
                    </a:ext>
                  </a:extLst>
                </a:gridCol>
                <a:gridCol w="1992697">
                  <a:extLst>
                    <a:ext uri="{9D8B030D-6E8A-4147-A177-3AD203B41FA5}">
                      <a16:colId xmlns:a16="http://schemas.microsoft.com/office/drawing/2014/main" val="2810786104"/>
                    </a:ext>
                  </a:extLst>
                </a:gridCol>
                <a:gridCol w="926941">
                  <a:extLst>
                    <a:ext uri="{9D8B030D-6E8A-4147-A177-3AD203B41FA5}">
                      <a16:colId xmlns:a16="http://schemas.microsoft.com/office/drawing/2014/main" val="1682719939"/>
                    </a:ext>
                  </a:extLst>
                </a:gridCol>
              </a:tblGrid>
              <a:tr h="1229997">
                <a:tc>
                  <a:txBody>
                    <a:bodyPr/>
                    <a:lstStyle/>
                    <a:p>
                      <a:pPr algn="just">
                        <a:lnSpc>
                          <a:spcPct val="107000"/>
                        </a:lnSpc>
                        <a:spcAft>
                          <a:spcPts val="0"/>
                        </a:spcAft>
                      </a:pPr>
                      <a:r>
                        <a:rPr lang="en-IN" sz="1600">
                          <a:effectLst/>
                        </a:rPr>
                        <a:t>8</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2300"/>
                        </a:spcAft>
                      </a:pPr>
                      <a:r>
                        <a:rPr lang="en-IN" sz="1600">
                          <a:effectLst/>
                        </a:rPr>
                        <a:t>Supplier’s Action: Retrieving information of the products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By entering the Seller Code, the product details are displayed.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By entering the Seller Code, the product details are displayed.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PASS</a:t>
                      </a:r>
                    </a:p>
                    <a:p>
                      <a:pPr algn="just">
                        <a:lnSpc>
                          <a:spcPct val="107000"/>
                        </a:lnSpc>
                        <a:spcAft>
                          <a:spcPts val="0"/>
                        </a:spcAft>
                      </a:pPr>
                      <a:r>
                        <a:rPr lang="en-IN" sz="1600">
                          <a:effectLst/>
                        </a:rPr>
                        <a:t> </a:t>
                      </a:r>
                    </a:p>
                    <a:p>
                      <a:pPr algn="just">
                        <a:lnSpc>
                          <a:spcPct val="107000"/>
                        </a:lnSpc>
                        <a:spcAft>
                          <a:spcPts val="0"/>
                        </a:spcAft>
                      </a:pPr>
                      <a:r>
                        <a:rPr lang="en-IN" sz="1600">
                          <a:effectLst/>
                        </a:rPr>
                        <a:t> </a:t>
                      </a:r>
                    </a:p>
                    <a:p>
                      <a:pPr algn="just">
                        <a:lnSpc>
                          <a:spcPct val="107000"/>
                        </a:lnSpc>
                        <a:spcAft>
                          <a:spcPts val="0"/>
                        </a:spcAft>
                      </a:pPr>
                      <a:r>
                        <a:rPr lang="en-IN" sz="1600">
                          <a:effectLst/>
                        </a:rPr>
                        <a:t> </a:t>
                      </a:r>
                    </a:p>
                    <a:p>
                      <a:pPr algn="just">
                        <a:lnSpc>
                          <a:spcPct val="107000"/>
                        </a:lnSpc>
                        <a:spcAft>
                          <a:spcPts val="0"/>
                        </a:spcAft>
                      </a:pPr>
                      <a:r>
                        <a:rPr lang="en-IN" sz="1600">
                          <a:effectLst/>
                        </a:rPr>
                        <a:t>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593640989"/>
                  </a:ext>
                </a:extLst>
              </a:tr>
              <a:tr h="1735224">
                <a:tc>
                  <a:txBody>
                    <a:bodyPr/>
                    <a:lstStyle/>
                    <a:p>
                      <a:pPr algn="just">
                        <a:lnSpc>
                          <a:spcPct val="107000"/>
                        </a:lnSpc>
                        <a:spcAft>
                          <a:spcPts val="0"/>
                        </a:spcAft>
                      </a:pPr>
                      <a:r>
                        <a:rPr lang="en-IN" sz="1600">
                          <a:effectLst/>
                        </a:rPr>
                        <a:t>9</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2300"/>
                        </a:spcAft>
                      </a:pPr>
                      <a:r>
                        <a:rPr lang="en-IN" sz="1600" dirty="0">
                          <a:effectLst/>
                        </a:rPr>
                        <a:t>Consumer’s Action: Retrieving the product details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By entering the consumer code, consumer can know what products are purchased and the details of the product.</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By entering the consumer code, consumer can know what products are purchased and the details of the product.</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PASS</a:t>
                      </a:r>
                    </a:p>
                    <a:p>
                      <a:pPr algn="just">
                        <a:lnSpc>
                          <a:spcPct val="107000"/>
                        </a:lnSpc>
                        <a:spcAft>
                          <a:spcPts val="0"/>
                        </a:spcAft>
                      </a:pPr>
                      <a:r>
                        <a:rPr lang="en-IN" sz="1600">
                          <a:effectLst/>
                        </a:rPr>
                        <a:t> </a:t>
                      </a:r>
                    </a:p>
                    <a:p>
                      <a:pPr algn="just">
                        <a:lnSpc>
                          <a:spcPct val="107000"/>
                        </a:lnSpc>
                        <a:spcAft>
                          <a:spcPts val="0"/>
                        </a:spcAft>
                      </a:pPr>
                      <a:r>
                        <a:rPr lang="en-IN" sz="1600">
                          <a:effectLst/>
                        </a:rPr>
                        <a:t> </a:t>
                      </a:r>
                    </a:p>
                    <a:p>
                      <a:pPr algn="just">
                        <a:lnSpc>
                          <a:spcPct val="107000"/>
                        </a:lnSpc>
                        <a:spcAft>
                          <a:spcPts val="0"/>
                        </a:spcAft>
                      </a:pPr>
                      <a:r>
                        <a:rPr lang="en-IN" sz="1600">
                          <a:effectLst/>
                        </a:rPr>
                        <a:t> </a:t>
                      </a:r>
                    </a:p>
                    <a:p>
                      <a:pPr algn="just">
                        <a:lnSpc>
                          <a:spcPct val="107000"/>
                        </a:lnSpc>
                        <a:spcAft>
                          <a:spcPts val="0"/>
                        </a:spcAft>
                      </a:pPr>
                      <a:r>
                        <a:rPr lang="en-IN" sz="1600">
                          <a:effectLst/>
                        </a:rPr>
                        <a:t>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4120689375"/>
                  </a:ext>
                </a:extLst>
              </a:tr>
              <a:tr h="2607694">
                <a:tc>
                  <a:txBody>
                    <a:bodyPr/>
                    <a:lstStyle/>
                    <a:p>
                      <a:pPr algn="just">
                        <a:lnSpc>
                          <a:spcPct val="107000"/>
                        </a:lnSpc>
                        <a:spcAft>
                          <a:spcPts val="0"/>
                        </a:spcAft>
                      </a:pPr>
                      <a:r>
                        <a:rPr lang="en-IN" sz="1600">
                          <a:effectLst/>
                        </a:rPr>
                        <a:t>10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2300"/>
                        </a:spcAft>
                      </a:pPr>
                      <a:r>
                        <a:rPr lang="en-IN" sz="1600" dirty="0">
                          <a:effectLst/>
                        </a:rPr>
                        <a:t>Consumer’s Action: QR Code Scanning and Verification of the products.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The QR code is scanned, and the corresponding Product Serial Number (SN) is retrieved. Then by adding the consumer code, consumer can know the product is genuine or fake.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a:effectLst/>
                        </a:rPr>
                        <a:t>The QR code is scanned, and the corresponding Product Serial Number (SN) is retrieved. Then by adding the consumer code, consumer can know the product is genuine or fake.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tc>
                  <a:txBody>
                    <a:bodyPr/>
                    <a:lstStyle/>
                    <a:p>
                      <a:pPr algn="just">
                        <a:lnSpc>
                          <a:spcPct val="107000"/>
                        </a:lnSpc>
                        <a:spcAft>
                          <a:spcPts val="0"/>
                        </a:spcAft>
                      </a:pPr>
                      <a:r>
                        <a:rPr lang="en-IN" sz="1600" dirty="0">
                          <a:effectLst/>
                        </a:rPr>
                        <a:t>PASS</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p>
                    <a:p>
                      <a:pPr algn="just">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3500" marR="63500" marT="0" marB="0"/>
                </a:tc>
                <a:extLst>
                  <a:ext uri="{0D108BD9-81ED-4DB2-BD59-A6C34878D82A}">
                    <a16:rowId xmlns:a16="http://schemas.microsoft.com/office/drawing/2014/main" val="2829339016"/>
                  </a:ext>
                </a:extLst>
              </a:tr>
            </a:tbl>
          </a:graphicData>
        </a:graphic>
      </p:graphicFrame>
    </p:spTree>
    <p:extLst>
      <p:ext uri="{BB962C8B-B14F-4D97-AF65-F5344CB8AC3E}">
        <p14:creationId xmlns:p14="http://schemas.microsoft.com/office/powerpoint/2010/main" val="2054553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325"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RESULT ANALYSIS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6" name="Picture 5">
            <a:extLst>
              <a:ext uri="{FF2B5EF4-FFF2-40B4-BE49-F238E27FC236}">
                <a16:creationId xmlns:a16="http://schemas.microsoft.com/office/drawing/2014/main" id="{976F4B58-167C-4B30-BBCB-F3C55A4EFC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2188" y="812632"/>
            <a:ext cx="9854224" cy="4458615"/>
          </a:xfrm>
          <a:prstGeom prst="rect">
            <a:avLst/>
          </a:prstGeom>
        </p:spPr>
      </p:pic>
      <p:sp>
        <p:nvSpPr>
          <p:cNvPr id="8" name="TextBox 7">
            <a:extLst>
              <a:ext uri="{FF2B5EF4-FFF2-40B4-BE49-F238E27FC236}">
                <a16:creationId xmlns:a16="http://schemas.microsoft.com/office/drawing/2014/main" id="{B4CD5404-DA15-4E67-87AE-A883A74DDE04}"/>
              </a:ext>
            </a:extLst>
          </p:cNvPr>
          <p:cNvSpPr txBox="1"/>
          <p:nvPr/>
        </p:nvSpPr>
        <p:spPr>
          <a:xfrm>
            <a:off x="242047" y="5629869"/>
            <a:ext cx="11707905"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The result will </a:t>
            </a:r>
            <a:r>
              <a:rPr lang="en-US" sz="2400">
                <a:latin typeface="Times New Roman" panose="02020603050405020304" pitchFamily="18" charset="0"/>
                <a:cs typeface="Times New Roman" panose="02020603050405020304" pitchFamily="18" charset="0"/>
              </a:rPr>
              <a:t>show as </a:t>
            </a:r>
            <a:r>
              <a:rPr lang="en-US" sz="2400" dirty="0">
                <a:latin typeface="Times New Roman" panose="02020603050405020304" pitchFamily="18" charset="0"/>
                <a:cs typeface="Times New Roman" panose="02020603050405020304" pitchFamily="18" charset="0"/>
              </a:rPr>
              <a:t>genuine product if the Product Serial Number (SN) matches the Consumer Code, indicating that the product was sold to that particular consumer.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4448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325"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RESULT ANALYSIS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6" name="Picture 5">
            <a:extLst>
              <a:ext uri="{FF2B5EF4-FFF2-40B4-BE49-F238E27FC236}">
                <a16:creationId xmlns:a16="http://schemas.microsoft.com/office/drawing/2014/main" id="{DB624715-BD35-477A-AE73-202B205BBE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97" y="903964"/>
            <a:ext cx="9995651" cy="4536733"/>
          </a:xfrm>
          <a:prstGeom prst="rect">
            <a:avLst/>
          </a:prstGeom>
        </p:spPr>
      </p:pic>
      <p:sp>
        <p:nvSpPr>
          <p:cNvPr id="8" name="TextBox 7">
            <a:extLst>
              <a:ext uri="{FF2B5EF4-FFF2-40B4-BE49-F238E27FC236}">
                <a16:creationId xmlns:a16="http://schemas.microsoft.com/office/drawing/2014/main" id="{90E5EF15-643C-4B0A-943A-719489721FB3}"/>
              </a:ext>
            </a:extLst>
          </p:cNvPr>
          <p:cNvSpPr txBox="1"/>
          <p:nvPr/>
        </p:nvSpPr>
        <p:spPr>
          <a:xfrm>
            <a:off x="242047" y="5750004"/>
            <a:ext cx="11707905"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The result will show as fake product if the Product Serial Number (SN) does not match the Consumer Code, indicating that the product was not sold to that particular consumer.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774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4526915" y="294640"/>
            <a:ext cx="4064000" cy="583565"/>
          </a:xfrm>
          <a:prstGeom prst="rect">
            <a:avLst/>
          </a:prstGeom>
          <a:noFill/>
        </p:spPr>
        <p:txBody>
          <a:bodyPr wrap="square" rtlCol="0">
            <a:spAutoFit/>
          </a:bodyPr>
          <a:lstStyle/>
          <a:p>
            <a:r>
              <a:rPr lang="en-IN" altLang="en-US" sz="3200" b="1">
                <a:solidFill>
                  <a:schemeClr val="accent1">
                    <a:lumMod val="75000"/>
                  </a:schemeClr>
                </a:solidFill>
                <a:latin typeface="Times New Roman" panose="02020603050405020304" pitchFamily="18" charset="0"/>
                <a:cs typeface="Times New Roman" panose="02020603050405020304" pitchFamily="18" charset="0"/>
              </a:rPr>
              <a:t>REVIEW PAPER</a:t>
            </a:r>
          </a:p>
        </p:txBody>
      </p:sp>
      <p:sp>
        <p:nvSpPr>
          <p:cNvPr id="100" name="Text Box 99"/>
          <p:cNvSpPr txBox="1"/>
          <p:nvPr/>
        </p:nvSpPr>
        <p:spPr>
          <a:xfrm>
            <a:off x="-597535" y="-25240615"/>
            <a:ext cx="12887960" cy="14391640"/>
          </a:xfrm>
          <a:prstGeom prst="rect">
            <a:avLst/>
          </a:prstGeom>
          <a:noFill/>
          <a:ln w="9525">
            <a:noFill/>
          </a:ln>
        </p:spPr>
        <p:txBody>
          <a:bodyPr>
            <a:noAutofit/>
          </a:bodyPr>
          <a:lstStyle/>
          <a:p>
            <a:pPr marL="182880" indent="-182880" algn="ctr"/>
            <a:r>
              <a:rPr lang="en-US" sz="1200" b="1">
                <a:latin typeface="Times New Roman" panose="02020603050405020304" pitchFamily="18" charset="0"/>
                <a:ea typeface="SimSun" panose="02010600030101010101" pitchFamily="2" charset="-122"/>
              </a:rPr>
              <a:t>Securing Authenticity: A Survey on Blockchain-Based Strategies for Verifying Product Authenticity and Combatting Counterfeits</a:t>
            </a:r>
            <a:endParaRPr lang="en-US" sz="1200" b="0">
              <a:latin typeface="Times New Roman" panose="02020603050405020304" pitchFamily="18" charset="0"/>
              <a:ea typeface="SimSun" panose="02010600030101010101" pitchFamily="2" charset="-122"/>
            </a:endParaRPr>
          </a:p>
          <a:p>
            <a:pPr marL="182880" indent="-182880" algn="ctr"/>
            <a:r>
              <a:rPr lang="en-US" sz="1200" b="0">
                <a:latin typeface="Times New Roman" panose="02020603050405020304" pitchFamily="18" charset="0"/>
                <a:ea typeface="SimSun" panose="02010600030101010101" pitchFamily="2" charset="-122"/>
              </a:rPr>
              <a:t> </a:t>
            </a:r>
          </a:p>
          <a:p>
            <a:pPr marL="182880" indent="-182880" algn="ctr"/>
            <a:r>
              <a:rPr lang="en-US" sz="1200" b="0">
                <a:latin typeface="Times New Roman" panose="02020603050405020304" pitchFamily="18" charset="0"/>
                <a:ea typeface="SimSun" panose="02010600030101010101" pitchFamily="2" charset="-122"/>
              </a:rPr>
              <a:t> </a:t>
            </a:r>
          </a:p>
          <a:p>
            <a:pPr marL="182880" indent="-182880" algn="ctr"/>
            <a:r>
              <a:rPr lang="en-US" sz="1200" b="0">
                <a:latin typeface="Times New Roman" panose="02020603050405020304" pitchFamily="18" charset="0"/>
                <a:ea typeface="SimSun" panose="02010600030101010101" pitchFamily="2" charset="-122"/>
              </a:rPr>
              <a:t>Srija Anuragini D </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Indiasrija2910@gmail.com</a:t>
            </a:r>
          </a:p>
          <a:p>
            <a:pPr marL="182880" indent="-182880" algn="ctr"/>
            <a:r>
              <a:rPr lang="en-US" sz="1200" b="0">
                <a:latin typeface="Times New Roman" panose="02020603050405020304" pitchFamily="18" charset="0"/>
                <a:ea typeface="SimSun" panose="02010600030101010101" pitchFamily="2" charset="-122"/>
              </a:rPr>
              <a:t>Nikila Veera Chandini Pothula</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Indianikhila.chandini@gmail.com</a:t>
            </a:r>
          </a:p>
          <a:p>
            <a:pPr marL="182880" indent="-182880" algn="ctr"/>
            <a:r>
              <a:rPr lang="en-US" sz="1200" b="0">
                <a:latin typeface="Times New Roman" panose="02020603050405020304" pitchFamily="18" charset="0"/>
                <a:ea typeface="SimSun" panose="02010600030101010101" pitchFamily="2" charset="-122"/>
              </a:rPr>
              <a:t>Kavya Sri Lingampally </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Indiakavyasrilingampalli@gmail.com</a:t>
            </a:r>
          </a:p>
          <a:p>
            <a:pPr marL="182880" indent="-182880" algn="ctr"/>
            <a:r>
              <a:rPr lang="en-US" sz="1200" b="0">
                <a:latin typeface="Times New Roman" panose="02020603050405020304" pitchFamily="18" charset="0"/>
                <a:ea typeface="SimSun" panose="02010600030101010101" pitchFamily="2" charset="-122"/>
              </a:rPr>
              <a:t>Dr.G.R. Sakthi Dharan</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Indiagrsakthi1293@grietcollege.com</a:t>
            </a:r>
          </a:p>
          <a:p>
            <a:pPr marL="182880" indent="-182880" algn="ctr"/>
            <a:r>
              <a:rPr lang="en-US" sz="1200" b="0">
                <a:latin typeface="Times New Roman" panose="02020603050405020304" pitchFamily="18" charset="0"/>
                <a:ea typeface="SimSun" panose="02010600030101010101" pitchFamily="2" charset="-122"/>
              </a:rPr>
              <a:t>Preethi Kalloju</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Indiakalloju.preethi@gmail.com</a:t>
            </a:r>
          </a:p>
          <a:p>
            <a:pPr marL="182880" indent="-182880" algn="ctr"/>
            <a:r>
              <a:rPr lang="en-US" sz="1200" b="0">
                <a:latin typeface="Times New Roman" panose="02020603050405020304" pitchFamily="18" charset="0"/>
                <a:ea typeface="SimSun" panose="02010600030101010101" pitchFamily="2" charset="-122"/>
              </a:rPr>
              <a:t> </a:t>
            </a:r>
          </a:p>
          <a:p>
            <a:pPr marL="182880" indent="-182880" algn="ctr"/>
            <a:r>
              <a:rPr lang="en-US" sz="1200" b="0">
                <a:latin typeface="Times New Roman" panose="02020603050405020304" pitchFamily="18" charset="0"/>
                <a:ea typeface="SimSun" panose="02010600030101010101" pitchFamily="2" charset="-122"/>
              </a:rPr>
              <a:t> </a:t>
            </a:r>
            <a:endParaRPr lang="en-US" sz="1200" b="1" i="1">
              <a:latin typeface="Times New Roman" panose="02020603050405020304" pitchFamily="18" charset="0"/>
              <a:ea typeface="SimSun" panose="02010600030101010101" pitchFamily="2" charset="-122"/>
            </a:endParaRPr>
          </a:p>
          <a:p>
            <a:pPr marL="182880" indent="-182880" algn="ctr"/>
            <a:r>
              <a:rPr lang="en-US" sz="1200" b="1" i="1">
                <a:latin typeface="Times New Roman" panose="02020603050405020304" pitchFamily="18" charset="0"/>
                <a:ea typeface="SimSun" panose="02010600030101010101" pitchFamily="2" charset="-122"/>
              </a:rPr>
              <a:t>Abstract</a:t>
            </a:r>
            <a:r>
              <a:rPr lang="en-US" sz="1200" b="1">
                <a:latin typeface="Times New Roman" panose="02020603050405020304" pitchFamily="18" charset="0"/>
                <a:ea typeface="SimSun" panose="02010600030101010101" pitchFamily="2" charset="-122"/>
              </a:rPr>
              <a:t>—This review paper explores the landscape of fake product detection through the lens of blockchain technologies. Examining the intersection of blockchain and anti-counterfeiting measures, the paper delves into various strategies employed to authenticate products and secure supply chains. Blockchain's tamper-resistant nature, coupled with its decentralized architecture, emerges as a robust solution to counter the proliferation of counterfeit goods. The review encompasses the diverse applications of blockchain in product traceability, ensuring transparency from manufacturing to consumer hands. Evaluating the efficacy of smart contracts and QR code integration, the paper sheds light on their role in creating a seamless and secure verification process. While acknowledging the strides made in blockchain-based fake product detection, the review also highlights existing challenges and proposes avenues for future research, emphasizing the need for widespread adoption and continuous technological advancements to fortify global efforts against counterfeit products.</a:t>
            </a:r>
            <a:endParaRPr lang="en-US" sz="1200" b="1" i="1">
              <a:latin typeface="Times New Roman" panose="02020603050405020304" pitchFamily="18" charset="0"/>
              <a:ea typeface="SimSun" panose="02010600030101010101" pitchFamily="2" charset="-122"/>
            </a:endParaRPr>
          </a:p>
          <a:p>
            <a:pPr marL="182880" indent="-182880" algn="ctr"/>
            <a:r>
              <a:rPr lang="en-US" sz="1200" b="1" i="1">
                <a:latin typeface="Times New Roman" panose="02020603050405020304" pitchFamily="18" charset="0"/>
                <a:ea typeface="SimSun" panose="02010600030101010101" pitchFamily="2" charset="-122"/>
              </a:rPr>
              <a:t>Keywords—blockchain, counterfeit goods, fake product detection, anti-counterfeiting measures, smart contracts.</a:t>
            </a:r>
            <a:endParaRPr lang="en-US" sz="1200" b="1">
              <a:latin typeface="Times New Roman" panose="02020603050405020304" pitchFamily="18" charset="0"/>
              <a:ea typeface="SimSun" panose="02010600030101010101" pitchFamily="2" charset="-122"/>
            </a:endParaRPr>
          </a:p>
          <a:p>
            <a:pPr marL="182880" indent="-182880" algn="ctr"/>
            <a:r>
              <a:rPr lang="en-US" sz="1200" b="1">
                <a:latin typeface="Times New Roman" panose="02020603050405020304" pitchFamily="18" charset="0"/>
                <a:ea typeface="SimSun" panose="02010600030101010101" pitchFamily="2" charset="-122"/>
              </a:rPr>
              <a:t>I. Introduction </a:t>
            </a:r>
            <a:endParaRPr lang="en-US" sz="1200" b="0">
              <a:solidFill>
                <a:srgbClr val="000000"/>
              </a:solidFill>
              <a:latin typeface="Times New Roman" panose="02020603050405020304" pitchFamily="18" charset="0"/>
            </a:endParaRPr>
          </a:p>
          <a:p>
            <a:pPr marL="182880" indent="-182880" algn="ctr"/>
            <a:r>
              <a:rPr lang="en-US" sz="1200" b="0">
                <a:solidFill>
                  <a:srgbClr val="000000"/>
                </a:solidFill>
                <a:latin typeface="Times New Roman" panose="02020603050405020304" pitchFamily="18" charset="0"/>
              </a:rPr>
              <a:t>In recent years, the global market has witnessed an alarming surge in counterfeit products, posing significant threats to consumers, businesses, and economies alike. The proliferation of fake goods not only compromises consumer safety but also undermines the integrity of legitimate industries, leading to substantial economic losses. As traditional methods struggle to keep pace with the ever-evolving sophistication of counterfeiters, there arises a pressing need for innovative and robust solutions.</a:t>
            </a:r>
          </a:p>
          <a:p>
            <a:pPr marL="182880" indent="-182880" algn="ctr"/>
            <a:r>
              <a:rPr lang="en-US" sz="1200" b="0">
                <a:solidFill>
                  <a:srgbClr val="000000"/>
                </a:solidFill>
                <a:latin typeface="Times New Roman" panose="02020603050405020304" pitchFamily="18" charset="0"/>
              </a:rPr>
              <a:t>Blockchain technology, renowned for its decentralized and tamper-resistant nature, has emerged as a promising tool in the fight against counterfeit products. This review paper aims to provide a comprehensive overview of the state-of-the-art advancements in utilizing blockchain for the detection and prevention of fake products across diverse industries.</a:t>
            </a:r>
          </a:p>
          <a:p>
            <a:pPr marL="182880" indent="-182880" algn="ctr"/>
            <a:r>
              <a:rPr lang="en-US" sz="1200" b="0">
                <a:solidFill>
                  <a:srgbClr val="000000"/>
                </a:solidFill>
                <a:latin typeface="Times New Roman" panose="02020603050405020304" pitchFamily="18" charset="0"/>
              </a:rPr>
              <a:t>Delving into the fundamental principles of blockchain technology and its intrinsic characteristics that make it an ideal candidate for establishing trust and transparency in supply chains. By employing an immutable ledger system, blockchain has the potential to revolutionize the way products are traced from their origin to the end consumer, mitigating the risk of counterfeiting at every stage of the supply chain.</a:t>
            </a:r>
          </a:p>
          <a:p>
            <a:pPr marL="182880" indent="-182880" algn="ctr"/>
            <a:r>
              <a:rPr lang="en-US" sz="1200" b="0">
                <a:solidFill>
                  <a:srgbClr val="000000"/>
                </a:solidFill>
                <a:latin typeface="Times New Roman" panose="02020603050405020304" pitchFamily="18" charset="0"/>
              </a:rPr>
              <a:t>Throughout this review, we will explore various blockchain-based methodologies and frameworks that have been proposed and implemented for fake product detection. This includes the integration of smart contracts, cryptographic techniques, and consensus algorithms to create secure and verifiable systems.</a:t>
            </a:r>
            <a:endParaRPr lang="en-US" sz="1200" b="1">
              <a:latin typeface="Times New Roman" panose="02020603050405020304" pitchFamily="18" charset="0"/>
              <a:ea typeface="SimSun" panose="02010600030101010101" pitchFamily="2" charset="-122"/>
            </a:endParaRPr>
          </a:p>
          <a:p>
            <a:pPr marL="182880" indent="-182880" algn="ctr"/>
            <a:r>
              <a:rPr lang="en-US" sz="1200" b="1">
                <a:latin typeface="Times New Roman" panose="02020603050405020304" pitchFamily="18" charset="0"/>
                <a:ea typeface="SimSun" panose="02010600030101010101" pitchFamily="2" charset="-122"/>
              </a:rPr>
              <a:t>II. Blockchain Technology</a:t>
            </a:r>
            <a:endParaRPr lang="en-US" sz="1200" b="0">
              <a:solidFill>
                <a:srgbClr val="000000"/>
              </a:solidFill>
              <a:latin typeface="Times New Roman" panose="02020603050405020304" pitchFamily="18" charset="0"/>
            </a:endParaRPr>
          </a:p>
          <a:p>
            <a:pPr marL="182880" indent="-182880" algn="ctr"/>
            <a:r>
              <a:rPr lang="en-US" sz="1200" b="0">
                <a:solidFill>
                  <a:srgbClr val="000000"/>
                </a:solidFill>
                <a:latin typeface="Times New Roman" panose="02020603050405020304" pitchFamily="18" charset="0"/>
              </a:rPr>
              <a:t>In the digital age, where trust and transparency are paramount, blockchain technology has emerged as a revolutionary force with the potential to reshape various industries. At its core, blockchain is a decentralized and distributed ledger system that securely records transactions across a network of computers[11]. Blockchain has demonstrated its capability to revolutionize conventional industries through its fundamental features: decentralization, persistence, anonymity, and auditability. The foundational concept of blockchain lies in its ability to create a tamper-resistant and transparent chain of blocks, each containing a list of transactions [7]. These blocks are linked through cryptographic hashes, forming a continuous and chronological chain. Blockchain technology, often described as a distributed and decentralized computerized ledger system, constitutes a foundational technology that facilitates the functioning of Bitcoin. Satoshi Nakamoto introduced this technology in 2008 through the digital currency known as Bitcoin [8]. Transactions are recorded in a sequential list of blocks. The expansion of this chain occurs incrementally as new blocks are consistently added to it.</a:t>
            </a:r>
          </a:p>
        </p:txBody>
      </p:sp>
      <p:sp>
        <p:nvSpPr>
          <p:cNvPr id="3" name="Text Box 2"/>
          <p:cNvSpPr txBox="1"/>
          <p:nvPr/>
        </p:nvSpPr>
        <p:spPr>
          <a:xfrm>
            <a:off x="719455" y="1214755"/>
            <a:ext cx="4934585" cy="860425"/>
          </a:xfrm>
          <a:prstGeom prst="rect">
            <a:avLst/>
          </a:prstGeom>
          <a:noFill/>
        </p:spPr>
        <p:txBody>
          <a:bodyPr wrap="square" rtlCol="0">
            <a:spAutoFit/>
          </a:bodyPr>
          <a:lstStyle/>
          <a:p>
            <a:endParaRPr lang="en-US"/>
          </a:p>
          <a:p>
            <a:endParaRPr lang="en-US"/>
          </a:p>
          <a:p>
            <a:endParaRPr lang="en-US" sz="1400"/>
          </a:p>
        </p:txBody>
      </p:sp>
      <p:pic>
        <p:nvPicPr>
          <p:cNvPr id="11" name="Picture 10"/>
          <p:cNvPicPr>
            <a:picLocks noChangeAspect="1"/>
          </p:cNvPicPr>
          <p:nvPr/>
        </p:nvPicPr>
        <p:blipFill>
          <a:blip r:embed="rId2"/>
          <a:stretch>
            <a:fillRect/>
          </a:stretch>
        </p:blipFill>
        <p:spPr>
          <a:xfrm>
            <a:off x="76835" y="1214120"/>
            <a:ext cx="12051665" cy="5225415"/>
          </a:xfrm>
          <a:prstGeom prst="rect">
            <a:avLst/>
          </a:prstGeom>
        </p:spPr>
      </p:pic>
      <p:sp>
        <p:nvSpPr>
          <p:cNvPr id="8" name="TextBox 7">
            <a:extLst>
              <a:ext uri="{FF2B5EF4-FFF2-40B4-BE49-F238E27FC236}">
                <a16:creationId xmlns:a16="http://schemas.microsoft.com/office/drawing/2014/main" id="{34DB5D45-6111-4593-B947-740682F1BCC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4526915" y="294640"/>
            <a:ext cx="4064000" cy="583565"/>
          </a:xfrm>
          <a:prstGeom prst="rect">
            <a:avLst/>
          </a:prstGeom>
          <a:noFill/>
        </p:spPr>
        <p:txBody>
          <a:bodyPr wrap="square" rtlCol="0">
            <a:spAutoFit/>
          </a:bodyPr>
          <a:lstStyle/>
          <a:p>
            <a:r>
              <a:rPr lang="en-IN" altLang="en-US" sz="3200" b="1" dirty="0">
                <a:solidFill>
                  <a:schemeClr val="accent1">
                    <a:lumMod val="75000"/>
                  </a:schemeClr>
                </a:solidFill>
                <a:latin typeface="Times New Roman" panose="02020603050405020304" pitchFamily="18" charset="0"/>
                <a:cs typeface="Times New Roman" panose="02020603050405020304" pitchFamily="18" charset="0"/>
              </a:rPr>
              <a:t>RESEARCH PAPER</a:t>
            </a:r>
          </a:p>
        </p:txBody>
      </p:sp>
      <p:sp>
        <p:nvSpPr>
          <p:cNvPr id="100" name="Text Box 99"/>
          <p:cNvSpPr txBox="1"/>
          <p:nvPr/>
        </p:nvSpPr>
        <p:spPr>
          <a:xfrm>
            <a:off x="-597535" y="-25240615"/>
            <a:ext cx="12887960" cy="14391640"/>
          </a:xfrm>
          <a:prstGeom prst="rect">
            <a:avLst/>
          </a:prstGeom>
          <a:noFill/>
          <a:ln w="9525">
            <a:noFill/>
          </a:ln>
        </p:spPr>
        <p:txBody>
          <a:bodyPr>
            <a:noAutofit/>
          </a:bodyPr>
          <a:lstStyle/>
          <a:p>
            <a:pPr marL="182880" indent="-182880" algn="ctr"/>
            <a:r>
              <a:rPr lang="en-US" sz="1200" b="1">
                <a:latin typeface="Times New Roman" panose="02020603050405020304" pitchFamily="18" charset="0"/>
                <a:ea typeface="SimSun" panose="02010600030101010101" pitchFamily="2" charset="-122"/>
              </a:rPr>
              <a:t>Securing Authenticity: A Survey on Blockchain-Based Strategies for Verifying Product Authenticity and Combatting Counterfeits</a:t>
            </a:r>
            <a:endParaRPr lang="en-US" sz="1200" b="0">
              <a:latin typeface="Times New Roman" panose="02020603050405020304" pitchFamily="18" charset="0"/>
              <a:ea typeface="SimSun" panose="02010600030101010101" pitchFamily="2" charset="-122"/>
            </a:endParaRPr>
          </a:p>
          <a:p>
            <a:pPr marL="182880" indent="-182880" algn="ctr"/>
            <a:r>
              <a:rPr lang="en-US" sz="1200" b="0">
                <a:latin typeface="Times New Roman" panose="02020603050405020304" pitchFamily="18" charset="0"/>
                <a:ea typeface="SimSun" panose="02010600030101010101" pitchFamily="2" charset="-122"/>
              </a:rPr>
              <a:t> </a:t>
            </a:r>
          </a:p>
          <a:p>
            <a:pPr marL="182880" indent="-182880" algn="ctr"/>
            <a:r>
              <a:rPr lang="en-US" sz="1200" b="0">
                <a:latin typeface="Times New Roman" panose="02020603050405020304" pitchFamily="18" charset="0"/>
                <a:ea typeface="SimSun" panose="02010600030101010101" pitchFamily="2" charset="-122"/>
              </a:rPr>
              <a:t> </a:t>
            </a:r>
          </a:p>
          <a:p>
            <a:pPr marL="182880" indent="-182880" algn="ctr"/>
            <a:r>
              <a:rPr lang="en-US" sz="1200" b="0">
                <a:latin typeface="Times New Roman" panose="02020603050405020304" pitchFamily="18" charset="0"/>
                <a:ea typeface="SimSun" panose="02010600030101010101" pitchFamily="2" charset="-122"/>
              </a:rPr>
              <a:t>Srija Anuragini D </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Indiasrija2910@gmail.com</a:t>
            </a:r>
          </a:p>
          <a:p>
            <a:pPr marL="182880" indent="-182880" algn="ctr"/>
            <a:r>
              <a:rPr lang="en-US" sz="1200" b="0">
                <a:latin typeface="Times New Roman" panose="02020603050405020304" pitchFamily="18" charset="0"/>
                <a:ea typeface="SimSun" panose="02010600030101010101" pitchFamily="2" charset="-122"/>
              </a:rPr>
              <a:t>Nikila Veera Chandini Pothula</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Indianikhila.chandini@gmail.com</a:t>
            </a:r>
          </a:p>
          <a:p>
            <a:pPr marL="182880" indent="-182880" algn="ctr"/>
            <a:r>
              <a:rPr lang="en-US" sz="1200" b="0">
                <a:latin typeface="Times New Roman" panose="02020603050405020304" pitchFamily="18" charset="0"/>
                <a:ea typeface="SimSun" panose="02010600030101010101" pitchFamily="2" charset="-122"/>
              </a:rPr>
              <a:t>Kavya Sri Lingampally </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Indiakavyasrilingampalli@gmail.com</a:t>
            </a:r>
          </a:p>
          <a:p>
            <a:pPr marL="182880" indent="-182880" algn="ctr"/>
            <a:r>
              <a:rPr lang="en-US" sz="1200" b="0">
                <a:latin typeface="Times New Roman" panose="02020603050405020304" pitchFamily="18" charset="0"/>
                <a:ea typeface="SimSun" panose="02010600030101010101" pitchFamily="2" charset="-122"/>
              </a:rPr>
              <a:t>Dr.G.R. Sakthi Dharan</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Indiagrsakthi1293@grietcollege.com</a:t>
            </a:r>
          </a:p>
          <a:p>
            <a:pPr marL="182880" indent="-182880" algn="ctr"/>
            <a:r>
              <a:rPr lang="en-US" sz="1200" b="0">
                <a:latin typeface="Times New Roman" panose="02020603050405020304" pitchFamily="18" charset="0"/>
                <a:ea typeface="SimSun" panose="02010600030101010101" pitchFamily="2" charset="-122"/>
              </a:rPr>
              <a:t>Preethi Kalloju</a:t>
            </a:r>
            <a:r>
              <a:rPr lang="en-US" sz="1200" b="0" i="1">
                <a:latin typeface="Times New Roman" panose="02020603050405020304" pitchFamily="18" charset="0"/>
                <a:ea typeface="SimSun" panose="02010600030101010101" pitchFamily="2" charset="-122"/>
              </a:rPr>
              <a:t>Computer Science dept. </a:t>
            </a:r>
            <a:r>
              <a:rPr lang="en-US" sz="1200" b="0">
                <a:latin typeface="Times New Roman" panose="02020603050405020304" pitchFamily="18" charset="0"/>
                <a:ea typeface="SimSun" panose="02010600030101010101" pitchFamily="2" charset="-122"/>
              </a:rPr>
              <a:t> </a:t>
            </a:r>
            <a:r>
              <a:rPr lang="en-US" sz="1200" b="0" i="1">
                <a:latin typeface="Times New Roman" panose="02020603050405020304" pitchFamily="18" charset="0"/>
                <a:ea typeface="SimSun" panose="02010600030101010101" pitchFamily="2" charset="-122"/>
              </a:rPr>
              <a:t>Gokaraju Rangaraju Institute of Engineering and Technology </a:t>
            </a:r>
            <a:r>
              <a:rPr lang="en-US" sz="1200" b="0">
                <a:latin typeface="Times New Roman" panose="02020603050405020304" pitchFamily="18" charset="0"/>
                <a:ea typeface="SimSun" panose="02010600030101010101" pitchFamily="2" charset="-122"/>
              </a:rPr>
              <a:t>Hyderabad, Indiakalloju.preethi@gmail.com</a:t>
            </a:r>
          </a:p>
          <a:p>
            <a:pPr marL="182880" indent="-182880" algn="ctr"/>
            <a:r>
              <a:rPr lang="en-US" sz="1200" b="0">
                <a:latin typeface="Times New Roman" panose="02020603050405020304" pitchFamily="18" charset="0"/>
                <a:ea typeface="SimSun" panose="02010600030101010101" pitchFamily="2" charset="-122"/>
              </a:rPr>
              <a:t> </a:t>
            </a:r>
          </a:p>
          <a:p>
            <a:pPr marL="182880" indent="-182880" algn="ctr"/>
            <a:r>
              <a:rPr lang="en-US" sz="1200" b="0">
                <a:latin typeface="Times New Roman" panose="02020603050405020304" pitchFamily="18" charset="0"/>
                <a:ea typeface="SimSun" panose="02010600030101010101" pitchFamily="2" charset="-122"/>
              </a:rPr>
              <a:t> </a:t>
            </a:r>
            <a:endParaRPr lang="en-US" sz="1200" b="1" i="1">
              <a:latin typeface="Times New Roman" panose="02020603050405020304" pitchFamily="18" charset="0"/>
              <a:ea typeface="SimSun" panose="02010600030101010101" pitchFamily="2" charset="-122"/>
            </a:endParaRPr>
          </a:p>
          <a:p>
            <a:pPr marL="182880" indent="-182880" algn="ctr"/>
            <a:r>
              <a:rPr lang="en-US" sz="1200" b="1" i="1">
                <a:latin typeface="Times New Roman" panose="02020603050405020304" pitchFamily="18" charset="0"/>
                <a:ea typeface="SimSun" panose="02010600030101010101" pitchFamily="2" charset="-122"/>
              </a:rPr>
              <a:t>Abstract</a:t>
            </a:r>
            <a:r>
              <a:rPr lang="en-US" sz="1200" b="1">
                <a:latin typeface="Times New Roman" panose="02020603050405020304" pitchFamily="18" charset="0"/>
                <a:ea typeface="SimSun" panose="02010600030101010101" pitchFamily="2" charset="-122"/>
              </a:rPr>
              <a:t>—This review paper explores the landscape of fake product detection through the lens of blockchain technologies. Examining the intersection of blockchain and anti-counterfeiting measures, the paper delves into various strategies employed to authenticate products and secure supply chains. Blockchain's tamper-resistant nature, coupled with its decentralized architecture, emerges as a robust solution to counter the proliferation of counterfeit goods. The review encompasses the diverse applications of blockchain in product traceability, ensuring transparency from manufacturing to consumer hands. Evaluating the efficacy of smart contracts and QR code integration, the paper sheds light on their role in creating a seamless and secure verification process. While acknowledging the strides made in blockchain-based fake product detection, the review also highlights existing challenges and proposes avenues for future research, emphasizing the need for widespread adoption and continuous technological advancements to fortify global efforts against counterfeit products.</a:t>
            </a:r>
            <a:endParaRPr lang="en-US" sz="1200" b="1" i="1">
              <a:latin typeface="Times New Roman" panose="02020603050405020304" pitchFamily="18" charset="0"/>
              <a:ea typeface="SimSun" panose="02010600030101010101" pitchFamily="2" charset="-122"/>
            </a:endParaRPr>
          </a:p>
          <a:p>
            <a:pPr marL="182880" indent="-182880" algn="ctr"/>
            <a:r>
              <a:rPr lang="en-US" sz="1200" b="1" i="1">
                <a:latin typeface="Times New Roman" panose="02020603050405020304" pitchFamily="18" charset="0"/>
                <a:ea typeface="SimSun" panose="02010600030101010101" pitchFamily="2" charset="-122"/>
              </a:rPr>
              <a:t>Keywords—blockchain, counterfeit goods, fake product detection, anti-counterfeiting measures, smart contracts.</a:t>
            </a:r>
            <a:endParaRPr lang="en-US" sz="1200" b="1">
              <a:latin typeface="Times New Roman" panose="02020603050405020304" pitchFamily="18" charset="0"/>
              <a:ea typeface="SimSun" panose="02010600030101010101" pitchFamily="2" charset="-122"/>
            </a:endParaRPr>
          </a:p>
          <a:p>
            <a:pPr marL="182880" indent="-182880" algn="ctr"/>
            <a:r>
              <a:rPr lang="en-US" sz="1200" b="1">
                <a:latin typeface="Times New Roman" panose="02020603050405020304" pitchFamily="18" charset="0"/>
                <a:ea typeface="SimSun" panose="02010600030101010101" pitchFamily="2" charset="-122"/>
              </a:rPr>
              <a:t>I. Introduction </a:t>
            </a:r>
            <a:endParaRPr lang="en-US" sz="1200" b="0">
              <a:solidFill>
                <a:srgbClr val="000000"/>
              </a:solidFill>
              <a:latin typeface="Times New Roman" panose="02020603050405020304" pitchFamily="18" charset="0"/>
            </a:endParaRPr>
          </a:p>
          <a:p>
            <a:pPr marL="182880" indent="-182880" algn="ctr"/>
            <a:r>
              <a:rPr lang="en-US" sz="1200" b="0">
                <a:solidFill>
                  <a:srgbClr val="000000"/>
                </a:solidFill>
                <a:latin typeface="Times New Roman" panose="02020603050405020304" pitchFamily="18" charset="0"/>
              </a:rPr>
              <a:t>In recent years, the global market has witnessed an alarming surge in counterfeit products, posing significant threats to consumers, businesses, and economies alike. The proliferation of fake goods not only compromises consumer safety but also undermines the integrity of legitimate industries, leading to substantial economic losses. As traditional methods struggle to keep pace with the ever-evolving sophistication of counterfeiters, there arises a pressing need for innovative and robust solutions.</a:t>
            </a:r>
          </a:p>
          <a:p>
            <a:pPr marL="182880" indent="-182880" algn="ctr"/>
            <a:r>
              <a:rPr lang="en-US" sz="1200" b="0">
                <a:solidFill>
                  <a:srgbClr val="000000"/>
                </a:solidFill>
                <a:latin typeface="Times New Roman" panose="02020603050405020304" pitchFamily="18" charset="0"/>
              </a:rPr>
              <a:t>Blockchain technology, renowned for its decentralized and tamper-resistant nature, has emerged as a promising tool in the fight against counterfeit products. This review paper aims to provide a comprehensive overview of the state-of-the-art advancements in utilizing blockchain for the detection and prevention of fake products across diverse industries.</a:t>
            </a:r>
          </a:p>
          <a:p>
            <a:pPr marL="182880" indent="-182880" algn="ctr"/>
            <a:r>
              <a:rPr lang="en-US" sz="1200" b="0">
                <a:solidFill>
                  <a:srgbClr val="000000"/>
                </a:solidFill>
                <a:latin typeface="Times New Roman" panose="02020603050405020304" pitchFamily="18" charset="0"/>
              </a:rPr>
              <a:t>Delving into the fundamental principles of blockchain technology and its intrinsic characteristics that make it an ideal candidate for establishing trust and transparency in supply chains. By employing an immutable ledger system, blockchain has the potential to revolutionize the way products are traced from their origin to the end consumer, mitigating the risk of counterfeiting at every stage of the supply chain.</a:t>
            </a:r>
          </a:p>
          <a:p>
            <a:pPr marL="182880" indent="-182880" algn="ctr"/>
            <a:r>
              <a:rPr lang="en-US" sz="1200" b="0">
                <a:solidFill>
                  <a:srgbClr val="000000"/>
                </a:solidFill>
                <a:latin typeface="Times New Roman" panose="02020603050405020304" pitchFamily="18" charset="0"/>
              </a:rPr>
              <a:t>Throughout this review, we will explore various blockchain-based methodologies and frameworks that have been proposed and implemented for fake product detection. This includes the integration of smart contracts, cryptographic techniques, and consensus algorithms to create secure and verifiable systems.</a:t>
            </a:r>
            <a:endParaRPr lang="en-US" sz="1200" b="1">
              <a:latin typeface="Times New Roman" panose="02020603050405020304" pitchFamily="18" charset="0"/>
              <a:ea typeface="SimSun" panose="02010600030101010101" pitchFamily="2" charset="-122"/>
            </a:endParaRPr>
          </a:p>
          <a:p>
            <a:pPr marL="182880" indent="-182880" algn="ctr"/>
            <a:r>
              <a:rPr lang="en-US" sz="1200" b="1">
                <a:latin typeface="Times New Roman" panose="02020603050405020304" pitchFamily="18" charset="0"/>
                <a:ea typeface="SimSun" panose="02010600030101010101" pitchFamily="2" charset="-122"/>
              </a:rPr>
              <a:t>II. Blockchain Technology</a:t>
            </a:r>
            <a:endParaRPr lang="en-US" sz="1200" b="0">
              <a:solidFill>
                <a:srgbClr val="000000"/>
              </a:solidFill>
              <a:latin typeface="Times New Roman" panose="02020603050405020304" pitchFamily="18" charset="0"/>
            </a:endParaRPr>
          </a:p>
          <a:p>
            <a:pPr marL="182880" indent="-182880" algn="ctr"/>
            <a:r>
              <a:rPr lang="en-US" sz="1200" b="0">
                <a:solidFill>
                  <a:srgbClr val="000000"/>
                </a:solidFill>
                <a:latin typeface="Times New Roman" panose="02020603050405020304" pitchFamily="18" charset="0"/>
              </a:rPr>
              <a:t>In the digital age, where trust and transparency are paramount, blockchain technology has emerged as a revolutionary force with the potential to reshape various industries. At its core, blockchain is a decentralized and distributed ledger system that securely records transactions across a network of computers[11]. Blockchain has demonstrated its capability to revolutionize conventional industries through its fundamental features: decentralization, persistence, anonymity, and auditability. The foundational concept of blockchain lies in its ability to create a tamper-resistant and transparent chain of blocks, each containing a list of transactions [7]. These blocks are linked through cryptographic hashes, forming a continuous and chronological chain. Blockchain technology, often described as a distributed and decentralized computerized ledger system, constitutes a foundational technology that facilitates the functioning of Bitcoin. Satoshi Nakamoto introduced this technology in 2008 through the digital currency known as Bitcoin [8]. Transactions are recorded in a sequential list of blocks. The expansion of this chain occurs incrementally as new blocks are consistently added to it.</a:t>
            </a:r>
          </a:p>
        </p:txBody>
      </p:sp>
      <p:sp>
        <p:nvSpPr>
          <p:cNvPr id="3" name="Text Box 2"/>
          <p:cNvSpPr txBox="1"/>
          <p:nvPr/>
        </p:nvSpPr>
        <p:spPr>
          <a:xfrm>
            <a:off x="719455" y="1214755"/>
            <a:ext cx="4934585" cy="860425"/>
          </a:xfrm>
          <a:prstGeom prst="rect">
            <a:avLst/>
          </a:prstGeom>
          <a:noFill/>
        </p:spPr>
        <p:txBody>
          <a:bodyPr wrap="square" rtlCol="0">
            <a:spAutoFit/>
          </a:bodyPr>
          <a:lstStyle/>
          <a:p>
            <a:endParaRPr lang="en-US"/>
          </a:p>
          <a:p>
            <a:endParaRPr lang="en-US"/>
          </a:p>
          <a:p>
            <a:endParaRPr lang="en-US" sz="1400"/>
          </a:p>
        </p:txBody>
      </p:sp>
      <p:sp>
        <p:nvSpPr>
          <p:cNvPr id="8" name="TextBox 7">
            <a:extLst>
              <a:ext uri="{FF2B5EF4-FFF2-40B4-BE49-F238E27FC236}">
                <a16:creationId xmlns:a16="http://schemas.microsoft.com/office/drawing/2014/main" id="{34DB5D45-6111-4593-B947-740682F1BCC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4" name="Picture 3">
            <a:extLst>
              <a:ext uri="{FF2B5EF4-FFF2-40B4-BE49-F238E27FC236}">
                <a16:creationId xmlns:a16="http://schemas.microsoft.com/office/drawing/2014/main" id="{26EB5696-50EA-4F16-B943-9484115425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97" y="1171088"/>
            <a:ext cx="12115703" cy="5334001"/>
          </a:xfrm>
          <a:prstGeom prst="rect">
            <a:avLst/>
          </a:prstGeom>
        </p:spPr>
      </p:pic>
    </p:spTree>
    <p:extLst>
      <p:ext uri="{BB962C8B-B14F-4D97-AF65-F5344CB8AC3E}">
        <p14:creationId xmlns:p14="http://schemas.microsoft.com/office/powerpoint/2010/main" val="1500831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SNAPSHOTS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6" name="Picture 5">
            <a:extLst>
              <a:ext uri="{FF2B5EF4-FFF2-40B4-BE49-F238E27FC236}">
                <a16:creationId xmlns:a16="http://schemas.microsoft.com/office/drawing/2014/main" id="{D1B695AA-93D0-45DD-A707-A2CE15961C43}"/>
              </a:ext>
            </a:extLst>
          </p:cNvPr>
          <p:cNvPicPr>
            <a:picLocks noChangeAspect="1"/>
          </p:cNvPicPr>
          <p:nvPr/>
        </p:nvPicPr>
        <p:blipFill>
          <a:blip r:embed="rId3"/>
          <a:stretch>
            <a:fillRect/>
          </a:stretch>
        </p:blipFill>
        <p:spPr>
          <a:xfrm>
            <a:off x="1434472" y="979848"/>
            <a:ext cx="9574185" cy="4898303"/>
          </a:xfrm>
          <a:prstGeom prst="rect">
            <a:avLst/>
          </a:prstGeom>
        </p:spPr>
      </p:pic>
      <p:sp>
        <p:nvSpPr>
          <p:cNvPr id="8" name="TextBox 7">
            <a:extLst>
              <a:ext uri="{FF2B5EF4-FFF2-40B4-BE49-F238E27FC236}">
                <a16:creationId xmlns:a16="http://schemas.microsoft.com/office/drawing/2014/main" id="{00770F88-854F-42C8-8841-DAAD25EF0A8F}"/>
              </a:ext>
            </a:extLst>
          </p:cNvPr>
          <p:cNvSpPr txBox="1"/>
          <p:nvPr/>
        </p:nvSpPr>
        <p:spPr>
          <a:xfrm>
            <a:off x="3254246" y="5998743"/>
            <a:ext cx="593463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Product details entered by manufacturer</a:t>
            </a:r>
          </a:p>
        </p:txBody>
      </p:sp>
    </p:spTree>
    <p:extLst>
      <p:ext uri="{BB962C8B-B14F-4D97-AF65-F5344CB8AC3E}">
        <p14:creationId xmlns:p14="http://schemas.microsoft.com/office/powerpoint/2010/main" val="1869355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SNAPSHOTS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3" name="Picture 2">
            <a:extLst>
              <a:ext uri="{FF2B5EF4-FFF2-40B4-BE49-F238E27FC236}">
                <a16:creationId xmlns:a16="http://schemas.microsoft.com/office/drawing/2014/main" id="{16A5D44B-CBCB-4451-8623-67345E4C7B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084" y="1006817"/>
            <a:ext cx="9626952" cy="4354077"/>
          </a:xfrm>
          <a:prstGeom prst="rect">
            <a:avLst/>
          </a:prstGeom>
        </p:spPr>
      </p:pic>
      <p:sp>
        <p:nvSpPr>
          <p:cNvPr id="8" name="TextBox 7">
            <a:extLst>
              <a:ext uri="{FF2B5EF4-FFF2-40B4-BE49-F238E27FC236}">
                <a16:creationId xmlns:a16="http://schemas.microsoft.com/office/drawing/2014/main" id="{16F40747-445B-483B-88F6-91E74DD4B28A}"/>
              </a:ext>
            </a:extLst>
          </p:cNvPr>
          <p:cNvSpPr txBox="1"/>
          <p:nvPr/>
        </p:nvSpPr>
        <p:spPr>
          <a:xfrm>
            <a:off x="394447" y="5606097"/>
            <a:ext cx="11241742"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Entering the manufacturer code allows us to identify the sellers associated with the manufacturer.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2716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SNAPSHOTS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3" name="Picture 2">
            <a:extLst>
              <a:ext uri="{FF2B5EF4-FFF2-40B4-BE49-F238E27FC236}">
                <a16:creationId xmlns:a16="http://schemas.microsoft.com/office/drawing/2014/main" id="{0944A3A7-CA08-4A0A-A93F-03562A5BF7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744" y="956539"/>
            <a:ext cx="10340692" cy="4715288"/>
          </a:xfrm>
          <a:prstGeom prst="rect">
            <a:avLst/>
          </a:prstGeom>
        </p:spPr>
      </p:pic>
      <p:sp>
        <p:nvSpPr>
          <p:cNvPr id="8" name="TextBox 7">
            <a:extLst>
              <a:ext uri="{FF2B5EF4-FFF2-40B4-BE49-F238E27FC236}">
                <a16:creationId xmlns:a16="http://schemas.microsoft.com/office/drawing/2014/main" id="{1EAF086B-AC36-4627-A926-5F21B9FE5BD4}"/>
              </a:ext>
            </a:extLst>
          </p:cNvPr>
          <p:cNvSpPr txBox="1"/>
          <p:nvPr/>
        </p:nvSpPr>
        <p:spPr>
          <a:xfrm>
            <a:off x="685897" y="5815734"/>
            <a:ext cx="11241742"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Entering the seller code allows us to identify the product details associated with the seller.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102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1290" y="227857"/>
            <a:ext cx="12192000" cy="584775"/>
          </a:xfrm>
          <a:prstGeom prst="rect">
            <a:avLst/>
          </a:prstGeom>
          <a:noFill/>
        </p:spPr>
        <p:txBody>
          <a:bodyPr wrap="square" rtlCol="0">
            <a:sp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SNAPSHOTS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30FFE9-D1D5-407B-B538-B9FD357259E6}"/>
              </a:ext>
            </a:extLst>
          </p:cNvPr>
          <p:cNvSpPr txBox="1"/>
          <p:nvPr/>
        </p:nvSpPr>
        <p:spPr>
          <a:xfrm>
            <a:off x="4760309" y="6581001"/>
            <a:ext cx="7046494" cy="276999"/>
          </a:xfrm>
          <a:prstGeom prst="rect">
            <a:avLst/>
          </a:prstGeom>
          <a:noFill/>
        </p:spPr>
        <p:txBody>
          <a:bodyPr wrap="square">
            <a:spAutoFit/>
          </a:bodyPr>
          <a:lstStyle/>
          <a:p>
            <a:r>
              <a:rPr lang="en-IN" sz="1200" dirty="0"/>
              <a:t>MAJOR PROJECT PHASE – 2 FINAL REVIEW </a:t>
            </a:r>
          </a:p>
        </p:txBody>
      </p:sp>
      <p:pic>
        <p:nvPicPr>
          <p:cNvPr id="3" name="Picture 2">
            <a:extLst>
              <a:ext uri="{FF2B5EF4-FFF2-40B4-BE49-F238E27FC236}">
                <a16:creationId xmlns:a16="http://schemas.microsoft.com/office/drawing/2014/main" id="{6176BBCA-3D01-4C93-BA3D-1ED6FFD32B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084" y="975681"/>
            <a:ext cx="9852211" cy="4431663"/>
          </a:xfrm>
          <a:prstGeom prst="rect">
            <a:avLst/>
          </a:prstGeom>
        </p:spPr>
      </p:pic>
      <p:sp>
        <p:nvSpPr>
          <p:cNvPr id="8" name="TextBox 7">
            <a:extLst>
              <a:ext uri="{FF2B5EF4-FFF2-40B4-BE49-F238E27FC236}">
                <a16:creationId xmlns:a16="http://schemas.microsoft.com/office/drawing/2014/main" id="{86047CFD-73F2-4A83-8A6F-969DC4884BD8}"/>
              </a:ext>
            </a:extLst>
          </p:cNvPr>
          <p:cNvSpPr txBox="1"/>
          <p:nvPr/>
        </p:nvSpPr>
        <p:spPr>
          <a:xfrm>
            <a:off x="685897" y="5651486"/>
            <a:ext cx="11241742"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Entering the consumer code allows us to identify the products purchased by the consumer.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6516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2125</TotalTime>
  <Words>2276</Words>
  <Application>Microsoft Macintosh PowerPoint</Application>
  <PresentationFormat>Widescreen</PresentationFormat>
  <Paragraphs>175</Paragraphs>
  <Slides>16</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Department of Computer Science and Engineering MAJOR PROJECT PHASE-2 REVIEW-3 </dc:title>
  <dc:creator>Dell</dc:creator>
  <cp:lastModifiedBy>Pothula, Nikhila Veera Chandini</cp:lastModifiedBy>
  <cp:revision>38</cp:revision>
  <dcterms:created xsi:type="dcterms:W3CDTF">2024-04-20T06:21:54Z</dcterms:created>
  <dcterms:modified xsi:type="dcterms:W3CDTF">2026-04-13T10:03:04Z</dcterms:modified>
</cp:coreProperties>
</file>